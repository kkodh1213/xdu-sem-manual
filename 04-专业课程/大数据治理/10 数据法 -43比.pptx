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4" r:id="rId1"/>
    <p:sldMasterId id="2147483696" r:id="rId2"/>
  </p:sldMasterIdLst>
  <p:notesMasterIdLst>
    <p:notesMasterId r:id="rId23"/>
  </p:notesMasterIdLst>
  <p:sldIdLst>
    <p:sldId id="888" r:id="rId3"/>
    <p:sldId id="816" r:id="rId4"/>
    <p:sldId id="863" r:id="rId5"/>
    <p:sldId id="864" r:id="rId6"/>
    <p:sldId id="889" r:id="rId7"/>
    <p:sldId id="866" r:id="rId8"/>
    <p:sldId id="867" r:id="rId9"/>
    <p:sldId id="868" r:id="rId10"/>
    <p:sldId id="869" r:id="rId11"/>
    <p:sldId id="870" r:id="rId12"/>
    <p:sldId id="871" r:id="rId13"/>
    <p:sldId id="872" r:id="rId14"/>
    <p:sldId id="873" r:id="rId15"/>
    <p:sldId id="884" r:id="rId16"/>
    <p:sldId id="885" r:id="rId17"/>
    <p:sldId id="874" r:id="rId18"/>
    <p:sldId id="875" r:id="rId19"/>
    <p:sldId id="883" r:id="rId20"/>
    <p:sldId id="887" r:id="rId21"/>
    <p:sldId id="886" r:id="rId22"/>
  </p:sldIdLst>
  <p:sldSz cx="9144000" cy="6858000" type="screen4x3"/>
  <p:notesSz cx="6858000" cy="9144000"/>
  <p:embeddedFontLst>
    <p:embeddedFont>
      <p:font typeface="等线" panose="02010600030101010101" pitchFamily="2" charset="-122"/>
      <p:regular r:id="rId24"/>
      <p:bold r:id="rId25"/>
    </p:embeddedFont>
    <p:embeddedFont>
      <p:font typeface="等线 Light" panose="02010600030101010101" pitchFamily="2" charset="-122"/>
      <p:regular r:id="rId26"/>
    </p:embeddedFont>
    <p:embeddedFont>
      <p:font typeface="黑体" panose="02010609060101010101" pitchFamily="49" charset="-122"/>
      <p:regular r:id="rId27"/>
    </p:embeddedFont>
    <p:embeddedFont>
      <p:font typeface="黑体" panose="02010609060101010101" pitchFamily="49" charset="-122"/>
      <p:regular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 userDrawn="1">
          <p15:clr>
            <a:srgbClr val="A4A3A4"/>
          </p15:clr>
        </p15:guide>
        <p15:guide id="2" pos="1791" userDrawn="1">
          <p15:clr>
            <a:srgbClr val="A4A3A4"/>
          </p15:clr>
        </p15:guide>
        <p15:guide id="3" pos="612" userDrawn="1">
          <p15:clr>
            <a:srgbClr val="A4A3A4"/>
          </p15:clr>
        </p15:guide>
        <p15:guide id="4" pos="1497" userDrawn="1">
          <p15:clr>
            <a:srgbClr val="A4A3A4"/>
          </p15:clr>
        </p15:guide>
        <p15:guide id="5" pos="54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AED0F4"/>
    <a:srgbClr val="819BB3"/>
    <a:srgbClr val="8FAADC"/>
    <a:srgbClr val="0041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88" autoAdjust="0"/>
    <p:restoredTop sz="93408" autoAdjust="0"/>
  </p:normalViewPr>
  <p:slideViewPr>
    <p:cSldViewPr snapToGrid="0">
      <p:cViewPr>
        <p:scale>
          <a:sx n="66" d="100"/>
          <a:sy n="66" d="100"/>
        </p:scale>
        <p:origin x="1132" y="76"/>
      </p:cViewPr>
      <p:guideLst>
        <p:guide orient="horz" pos="164"/>
        <p:guide pos="1791"/>
        <p:guide pos="612"/>
        <p:guide pos="1497"/>
        <p:guide pos="5465"/>
      </p:guideLst>
    </p:cSldViewPr>
  </p:slideViewPr>
  <p:outlineViewPr>
    <p:cViewPr>
      <p:scale>
        <a:sx n="33" d="100"/>
        <a:sy n="33" d="100"/>
      </p:scale>
      <p:origin x="0" y="0"/>
    </p:cViewPr>
  </p:outlineViewPr>
  <p:notesTextViewPr>
    <p:cViewPr>
      <p:scale>
        <a:sx n="20" d="100"/>
        <a:sy n="20" d="100"/>
      </p:scale>
      <p:origin x="0" y="0"/>
    </p:cViewPr>
  </p:notesTextViewPr>
  <p:sorterViewPr>
    <p:cViewPr>
      <p:scale>
        <a:sx n="116" d="100"/>
        <a:sy n="116" d="100"/>
      </p:scale>
      <p:origin x="0" y="-624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8D988488-BABD-4171-AB51-D4928AC21FAF}" type="datetimeFigureOut">
              <a:rPr lang="zh-CN" altLang="en-US"/>
              <a:pPr>
                <a:defRPr/>
              </a:pPr>
              <a:t>2024/11/22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3A40DE8-0119-45A2-940F-0D7FE5BCFB40}" type="slidenum">
              <a:rPr lang="zh-CN" altLang="en-US"/>
              <a:pPr>
                <a:defRPr/>
              </a:pPr>
              <a:t>‹#›</a:t>
            </a:fld>
            <a:endParaRPr lang="zh-CN" altLang="en-US"/>
          </a:p>
        </p:txBody>
      </p:sp>
    </p:spTree>
    <p:extLst>
      <p:ext uri="{BB962C8B-B14F-4D97-AF65-F5344CB8AC3E}">
        <p14:creationId xmlns:p14="http://schemas.microsoft.com/office/powerpoint/2010/main" val="22848616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zhuanlan.zhihu.com/p/395352794"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gov.cn/xinwen/2021-08/20/content_5632486.ht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gov.cn/xinwen/2021-08/20/content_5632486.htm"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3A40DE8-0119-45A2-940F-0D7FE5BCFB40}" type="slidenum">
              <a:rPr lang="zh-CN" altLang="en-US" smtClean="0"/>
              <a:pPr>
                <a:defRPr/>
              </a:pPr>
              <a:t>1</a:t>
            </a:fld>
            <a:endParaRPr lang="zh-CN" altLang="en-US"/>
          </a:p>
        </p:txBody>
      </p:sp>
    </p:spTree>
    <p:extLst>
      <p:ext uri="{BB962C8B-B14F-4D97-AF65-F5344CB8AC3E}">
        <p14:creationId xmlns:p14="http://schemas.microsoft.com/office/powerpoint/2010/main" val="3111506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2</a:t>
            </a:fld>
            <a:endParaRPr lang="zh-CN" altLang="en-US"/>
          </a:p>
        </p:txBody>
      </p:sp>
    </p:spTree>
    <p:extLst>
      <p:ext uri="{BB962C8B-B14F-4D97-AF65-F5344CB8AC3E}">
        <p14:creationId xmlns:p14="http://schemas.microsoft.com/office/powerpoint/2010/main" val="3545091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3</a:t>
            </a:fld>
            <a:endParaRPr lang="zh-CN" altLang="en-US"/>
          </a:p>
        </p:txBody>
      </p:sp>
    </p:spTree>
    <p:extLst>
      <p:ext uri="{BB962C8B-B14F-4D97-AF65-F5344CB8AC3E}">
        <p14:creationId xmlns:p14="http://schemas.microsoft.com/office/powerpoint/2010/main" val="3432032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4</a:t>
            </a:fld>
            <a:endParaRPr lang="zh-CN" altLang="en-US"/>
          </a:p>
        </p:txBody>
      </p:sp>
    </p:spTree>
    <p:extLst>
      <p:ext uri="{BB962C8B-B14F-4D97-AF65-F5344CB8AC3E}">
        <p14:creationId xmlns:p14="http://schemas.microsoft.com/office/powerpoint/2010/main" val="1953506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5</a:t>
            </a:fld>
            <a:endParaRPr lang="zh-CN" altLang="en-US"/>
          </a:p>
        </p:txBody>
      </p:sp>
    </p:spTree>
    <p:extLst>
      <p:ext uri="{BB962C8B-B14F-4D97-AF65-F5344CB8AC3E}">
        <p14:creationId xmlns:p14="http://schemas.microsoft.com/office/powerpoint/2010/main" val="3251123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6</a:t>
            </a:fld>
            <a:endParaRPr lang="zh-CN" altLang="en-US"/>
          </a:p>
        </p:txBody>
      </p:sp>
    </p:spTree>
    <p:extLst>
      <p:ext uri="{BB962C8B-B14F-4D97-AF65-F5344CB8AC3E}">
        <p14:creationId xmlns:p14="http://schemas.microsoft.com/office/powerpoint/2010/main" val="3669839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7</a:t>
            </a:fld>
            <a:endParaRPr lang="zh-CN" altLang="en-US"/>
          </a:p>
        </p:txBody>
      </p:sp>
    </p:spTree>
    <p:extLst>
      <p:ext uri="{BB962C8B-B14F-4D97-AF65-F5344CB8AC3E}">
        <p14:creationId xmlns:p14="http://schemas.microsoft.com/office/powerpoint/2010/main" val="3490851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8</a:t>
            </a:fld>
            <a:endParaRPr lang="zh-CN" altLang="en-US"/>
          </a:p>
        </p:txBody>
      </p:sp>
    </p:spTree>
    <p:extLst>
      <p:ext uri="{BB962C8B-B14F-4D97-AF65-F5344CB8AC3E}">
        <p14:creationId xmlns:p14="http://schemas.microsoft.com/office/powerpoint/2010/main" val="1087572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9</a:t>
            </a:fld>
            <a:endParaRPr lang="zh-CN" altLang="en-US"/>
          </a:p>
        </p:txBody>
      </p:sp>
    </p:spTree>
    <p:extLst>
      <p:ext uri="{BB962C8B-B14F-4D97-AF65-F5344CB8AC3E}">
        <p14:creationId xmlns:p14="http://schemas.microsoft.com/office/powerpoint/2010/main" val="2168137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10</a:t>
            </a:fld>
            <a:endParaRPr lang="zh-CN" altLang="en-US"/>
          </a:p>
        </p:txBody>
      </p:sp>
    </p:spTree>
    <p:extLst>
      <p:ext uri="{BB962C8B-B14F-4D97-AF65-F5344CB8AC3E}">
        <p14:creationId xmlns:p14="http://schemas.microsoft.com/office/powerpoint/2010/main" val="3175891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11</a:t>
            </a:fld>
            <a:endParaRPr lang="zh-CN" altLang="en-US"/>
          </a:p>
        </p:txBody>
      </p:sp>
    </p:spTree>
    <p:extLst>
      <p:ext uri="{BB962C8B-B14F-4D97-AF65-F5344CB8AC3E}">
        <p14:creationId xmlns:p14="http://schemas.microsoft.com/office/powerpoint/2010/main" val="2339128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12</a:t>
            </a:fld>
            <a:endParaRPr lang="zh-CN" altLang="en-US"/>
          </a:p>
        </p:txBody>
      </p:sp>
    </p:spTree>
    <p:extLst>
      <p:ext uri="{BB962C8B-B14F-4D97-AF65-F5344CB8AC3E}">
        <p14:creationId xmlns:p14="http://schemas.microsoft.com/office/powerpoint/2010/main" val="2810667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dirty="0"/>
              <a:t>https://baike.baidu.com/item/%E4%B8%AD%E5%8D%8E%E4%BA%BA%E6%B0%91%E5%85%B1%E5%92%8C%E5%9B%BD%E6%95%B0%E6%8D%AE%E5%AE%89%E5%85%A8%E6%B3%95/22861124?fromtitle=%E6%95%B0%E6%8D%AE%E5%AE%89%E5%85%A8%E6%B3%95&amp;fromid=51219753&amp;fr=aladdin</a:t>
            </a:r>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13</a:t>
            </a:fld>
            <a:endParaRPr lang="zh-CN" altLang="en-US"/>
          </a:p>
        </p:txBody>
      </p:sp>
    </p:spTree>
    <p:extLst>
      <p:ext uri="{BB962C8B-B14F-4D97-AF65-F5344CB8AC3E}">
        <p14:creationId xmlns:p14="http://schemas.microsoft.com/office/powerpoint/2010/main" val="40850399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sz="1800"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14</a:t>
            </a:fld>
            <a:endParaRPr lang="zh-CN" altLang="en-US"/>
          </a:p>
        </p:txBody>
      </p:sp>
    </p:spTree>
    <p:extLst>
      <p:ext uri="{BB962C8B-B14F-4D97-AF65-F5344CB8AC3E}">
        <p14:creationId xmlns:p14="http://schemas.microsoft.com/office/powerpoint/2010/main" val="781349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sz="1800"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15</a:t>
            </a:fld>
            <a:endParaRPr lang="zh-CN" altLang="en-US"/>
          </a:p>
        </p:txBody>
      </p:sp>
    </p:spTree>
    <p:extLst>
      <p:ext uri="{BB962C8B-B14F-4D97-AF65-F5344CB8AC3E}">
        <p14:creationId xmlns:p14="http://schemas.microsoft.com/office/powerpoint/2010/main" val="151059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16</a:t>
            </a:fld>
            <a:endParaRPr lang="zh-CN" altLang="en-US"/>
          </a:p>
        </p:txBody>
      </p:sp>
    </p:spTree>
    <p:extLst>
      <p:ext uri="{BB962C8B-B14F-4D97-AF65-F5344CB8AC3E}">
        <p14:creationId xmlns:p14="http://schemas.microsoft.com/office/powerpoint/2010/main" val="1135270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17</a:t>
            </a:fld>
            <a:endParaRPr lang="zh-CN" altLang="en-US"/>
          </a:p>
        </p:txBody>
      </p:sp>
    </p:spTree>
    <p:extLst>
      <p:ext uri="{BB962C8B-B14F-4D97-AF65-F5344CB8AC3E}">
        <p14:creationId xmlns:p14="http://schemas.microsoft.com/office/powerpoint/2010/main" val="16692277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hlinkClick r:id="rId3"/>
              </a:rPr>
              <a:t>一图理解我国数据分类及数据安全监管框架 </a:t>
            </a:r>
            <a:r>
              <a:rPr lang="en-US" altLang="zh-CN" dirty="0">
                <a:hlinkClick r:id="rId3"/>
              </a:rPr>
              <a:t>- </a:t>
            </a:r>
            <a:r>
              <a:rPr lang="zh-CN" altLang="en-US" dirty="0">
                <a:hlinkClick r:id="rId3"/>
              </a:rPr>
              <a:t>知乎 </a:t>
            </a:r>
            <a:r>
              <a:rPr lang="en-US" altLang="zh-CN" dirty="0">
                <a:hlinkClick r:id="rId3"/>
              </a:rPr>
              <a:t>(zhihu.com)</a:t>
            </a:r>
            <a:endParaRPr kumimoji="1" lang="en-US" altLang="zh-CN" dirty="0"/>
          </a:p>
          <a:p>
            <a:endParaRPr kumimoji="1" lang="en-US" altLang="zh-CN" dirty="0"/>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18</a:t>
            </a:fld>
            <a:endParaRPr lang="zh-CN" altLang="en-US"/>
          </a:p>
        </p:txBody>
      </p:sp>
    </p:spTree>
    <p:extLst>
      <p:ext uri="{BB962C8B-B14F-4D97-AF65-F5344CB8AC3E}">
        <p14:creationId xmlns:p14="http://schemas.microsoft.com/office/powerpoint/2010/main" val="3458869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4400" dirty="0">
                <a:latin typeface="+mj-ea"/>
                <a:ea typeface="+mj-ea"/>
                <a:hlinkClick r:id="rId3"/>
              </a:rPr>
              <a:t>中华人民共和国个人信息保护法</a:t>
            </a:r>
            <a:r>
              <a:rPr lang="en-US" altLang="zh-CN" sz="4400" dirty="0">
                <a:latin typeface="+mj-ea"/>
                <a:ea typeface="+mj-ea"/>
                <a:hlinkClick r:id="rId3"/>
              </a:rPr>
              <a:t>_</a:t>
            </a:r>
            <a:r>
              <a:rPr lang="zh-CN" altLang="en-US" sz="4400" dirty="0">
                <a:latin typeface="+mj-ea"/>
                <a:ea typeface="+mj-ea"/>
                <a:hlinkClick r:id="rId3"/>
              </a:rPr>
              <a:t>滚动新闻</a:t>
            </a:r>
            <a:r>
              <a:rPr lang="en-US" altLang="zh-CN" sz="4400" dirty="0">
                <a:latin typeface="+mj-ea"/>
                <a:ea typeface="+mj-ea"/>
                <a:hlinkClick r:id="rId3"/>
              </a:rPr>
              <a:t>_</a:t>
            </a:r>
            <a:r>
              <a:rPr lang="zh-CN" altLang="en-US" sz="4400" dirty="0">
                <a:latin typeface="+mj-ea"/>
                <a:ea typeface="+mj-ea"/>
                <a:hlinkClick r:id="rId3"/>
              </a:rPr>
              <a:t>中国政府网 </a:t>
            </a:r>
            <a:r>
              <a:rPr lang="en-US" altLang="zh-CN" sz="4400" dirty="0">
                <a:latin typeface="+mj-ea"/>
                <a:ea typeface="+mj-ea"/>
                <a:hlinkClick r:id="rId3"/>
              </a:rPr>
              <a:t>(www.gov.cn)</a:t>
            </a:r>
            <a:endParaRPr kumimoji="1" lang="en-US" altLang="zh-CN" sz="3200" dirty="0">
              <a:latin typeface="+mj-ea"/>
              <a:ea typeface="+mj-ea"/>
            </a:endParaRPr>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19</a:t>
            </a:fld>
            <a:endParaRPr lang="zh-CN" altLang="en-US"/>
          </a:p>
        </p:txBody>
      </p:sp>
    </p:spTree>
    <p:extLst>
      <p:ext uri="{BB962C8B-B14F-4D97-AF65-F5344CB8AC3E}">
        <p14:creationId xmlns:p14="http://schemas.microsoft.com/office/powerpoint/2010/main" val="482987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87844B4-FFC0-9A61-E460-9A375EE634A2}"/>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D52BDE7A-55FE-7541-D0A2-00EFBB2D9F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4400" dirty="0">
                <a:latin typeface="+mj-ea"/>
                <a:ea typeface="+mj-ea"/>
                <a:hlinkClick r:id="rId3"/>
              </a:rPr>
              <a:t>中华人民共和国个人信息保护法</a:t>
            </a:r>
            <a:r>
              <a:rPr lang="en-US" altLang="zh-CN" sz="4400" dirty="0">
                <a:latin typeface="+mj-ea"/>
                <a:ea typeface="+mj-ea"/>
                <a:hlinkClick r:id="rId3"/>
              </a:rPr>
              <a:t>_</a:t>
            </a:r>
            <a:r>
              <a:rPr lang="zh-CN" altLang="en-US" sz="4400" dirty="0">
                <a:latin typeface="+mj-ea"/>
                <a:ea typeface="+mj-ea"/>
                <a:hlinkClick r:id="rId3"/>
              </a:rPr>
              <a:t>滚动新闻</a:t>
            </a:r>
            <a:r>
              <a:rPr lang="en-US" altLang="zh-CN" sz="4400" dirty="0">
                <a:latin typeface="+mj-ea"/>
                <a:ea typeface="+mj-ea"/>
                <a:hlinkClick r:id="rId3"/>
              </a:rPr>
              <a:t>_</a:t>
            </a:r>
            <a:r>
              <a:rPr lang="zh-CN" altLang="en-US" sz="4400" dirty="0">
                <a:latin typeface="+mj-ea"/>
                <a:ea typeface="+mj-ea"/>
                <a:hlinkClick r:id="rId3"/>
              </a:rPr>
              <a:t>中国政府网 </a:t>
            </a:r>
            <a:r>
              <a:rPr lang="en-US" altLang="zh-CN" sz="4400" dirty="0">
                <a:latin typeface="+mj-ea"/>
                <a:ea typeface="+mj-ea"/>
                <a:hlinkClick r:id="rId3"/>
              </a:rPr>
              <a:t>(www.gov.cn)</a:t>
            </a:r>
            <a:endParaRPr kumimoji="1" lang="en-US" altLang="zh-CN" sz="3200" dirty="0">
              <a:latin typeface="+mj-ea"/>
              <a:ea typeface="+mj-ea"/>
            </a:endParaRPr>
          </a:p>
        </p:txBody>
      </p:sp>
      <p:sp>
        <p:nvSpPr>
          <p:cNvPr id="119812" name="幻灯片编号占位符 3">
            <a:extLst>
              <a:ext uri="{FF2B5EF4-FFF2-40B4-BE49-F238E27FC236}">
                <a16:creationId xmlns:a16="http://schemas.microsoft.com/office/drawing/2014/main" id="{8654E665-EFD7-9DAB-9B29-2CC39C9A91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0BA076B-23C6-5F43-BB25-CA993F21BAF9}" type="slidenum">
              <a:rPr lang="zh-CN" altLang="en-US"/>
              <a:pPr/>
              <a:t>20</a:t>
            </a:fld>
            <a:endParaRPr lang="zh-CN" altLang="en-US"/>
          </a:p>
        </p:txBody>
      </p:sp>
    </p:spTree>
    <p:extLst>
      <p:ext uri="{BB962C8B-B14F-4D97-AF65-F5344CB8AC3E}">
        <p14:creationId xmlns:p14="http://schemas.microsoft.com/office/powerpoint/2010/main" val="1909242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pPr>
              <a:defRPr/>
            </a:pPr>
            <a:fld id="{7939A08C-CD34-4FF3-B422-8455CDF79A6C}" type="datetimeFigureOut">
              <a:rPr lang="zh-CN" altLang="en-US" smtClean="0"/>
              <a:pPr>
                <a:defRPr/>
              </a:pPr>
              <a:t>2024/11/22</a:t>
            </a:fld>
            <a:endParaRPr lang="zh-CN"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pPr>
              <a:defRPr/>
            </a:pPr>
            <a:fld id="{CD16E0A2-C69F-4D49-AAE0-7F8CBBB1A039}" type="slidenum">
              <a:rPr lang="zh-CN" altLang="en-US" smtClean="0"/>
              <a:pPr>
                <a:defRPr/>
              </a:pPr>
              <a:t>‹#›</a:t>
            </a:fld>
            <a:endParaRPr lang="zh-CN" altLang="en-US"/>
          </a:p>
        </p:txBody>
      </p:sp>
    </p:spTree>
    <p:extLst>
      <p:ext uri="{BB962C8B-B14F-4D97-AF65-F5344CB8AC3E}">
        <p14:creationId xmlns:p14="http://schemas.microsoft.com/office/powerpoint/2010/main" val="423271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836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pPr>
              <a:defRPr/>
            </a:pPr>
            <a:fld id="{F34AC1AA-41F9-4F62-A627-7FF54C0970C0}" type="datetimeFigureOut">
              <a:rPr lang="zh-CN" altLang="en-US" smtClean="0"/>
              <a:pPr>
                <a:defRPr/>
              </a:pPr>
              <a:t>2024/11/22</a:t>
            </a:fld>
            <a:endParaRPr lang="zh-CN"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pPr>
              <a:defRPr/>
            </a:pPr>
            <a:fld id="{0A962E65-4269-4BFE-AEBC-26EB182DB3A2}" type="slidenum">
              <a:rPr lang="zh-CN" altLang="en-US" smtClean="0"/>
              <a:pPr>
                <a:defRPr/>
              </a:pPr>
              <a:t>‹#›</a:t>
            </a:fld>
            <a:endParaRPr lang="zh-CN" altLang="en-US"/>
          </a:p>
        </p:txBody>
      </p:sp>
    </p:spTree>
    <p:extLst>
      <p:ext uri="{BB962C8B-B14F-4D97-AF65-F5344CB8AC3E}">
        <p14:creationId xmlns:p14="http://schemas.microsoft.com/office/powerpoint/2010/main" val="1901671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pPr>
              <a:defRPr/>
            </a:pPr>
            <a:fld id="{4DC1AAEC-5C9B-400B-A0A6-FD53DEF271EE}" type="datetimeFigureOut">
              <a:rPr lang="zh-CN" altLang="en-US" smtClean="0"/>
              <a:pPr>
                <a:defRPr/>
              </a:pPr>
              <a:t>2024/11/22</a:t>
            </a:fld>
            <a:endParaRPr lang="zh-CN"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pPr>
              <a:defRPr/>
            </a:pPr>
            <a:fld id="{6568D7D4-B41A-4BFB-A78D-412415BC60E9}" type="slidenum">
              <a:rPr lang="zh-CN" altLang="en-US" smtClean="0"/>
              <a:pPr>
                <a:defRPr/>
              </a:pPr>
              <a:t>‹#›</a:t>
            </a:fld>
            <a:endParaRPr lang="zh-CN" altLang="en-US"/>
          </a:p>
        </p:txBody>
      </p:sp>
    </p:spTree>
    <p:extLst>
      <p:ext uri="{BB962C8B-B14F-4D97-AF65-F5344CB8AC3E}">
        <p14:creationId xmlns:p14="http://schemas.microsoft.com/office/powerpoint/2010/main" val="1396183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pPr>
              <a:defRPr/>
            </a:pPr>
            <a:fld id="{15F135D0-CAC6-4ED8-8445-2CD1F2DF9BCA}" type="datetimeFigureOut">
              <a:rPr lang="zh-CN" altLang="en-US" smtClean="0"/>
              <a:pPr>
                <a:defRPr/>
              </a:pPr>
              <a:t>2024/11/22</a:t>
            </a:fld>
            <a:endParaRPr lang="zh-CN" alt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pPr>
              <a:defRPr/>
            </a:pPr>
            <a:fld id="{D33385AA-E7CB-493E-8591-BE4D5C9B8E54}" type="slidenum">
              <a:rPr lang="zh-CN" altLang="en-US" smtClean="0"/>
              <a:pPr>
                <a:defRPr/>
              </a:pPr>
              <a:t>‹#›</a:t>
            </a:fld>
            <a:endParaRPr lang="zh-CN" altLang="en-US"/>
          </a:p>
        </p:txBody>
      </p:sp>
    </p:spTree>
    <p:extLst>
      <p:ext uri="{BB962C8B-B14F-4D97-AF65-F5344CB8AC3E}">
        <p14:creationId xmlns:p14="http://schemas.microsoft.com/office/powerpoint/2010/main" val="19969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pPr>
              <a:defRPr/>
            </a:pPr>
            <a:fld id="{95529E48-90A2-4601-BE95-733B963601B1}" type="datetimeFigureOut">
              <a:rPr lang="zh-CN" altLang="en-US" smtClean="0"/>
              <a:pPr>
                <a:defRPr/>
              </a:pPr>
              <a:t>2024/11/22</a:t>
            </a:fld>
            <a:endParaRPr lang="zh-CN" alt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pPr>
              <a:defRPr/>
            </a:pPr>
            <a:fld id="{5EDBEC61-2272-4EF2-9772-03BFAB8CE5A1}" type="slidenum">
              <a:rPr lang="zh-CN" altLang="en-US" smtClean="0"/>
              <a:pPr>
                <a:defRPr/>
              </a:pPr>
              <a:t>‹#›</a:t>
            </a:fld>
            <a:endParaRPr lang="zh-CN" altLang="en-US"/>
          </a:p>
        </p:txBody>
      </p:sp>
    </p:spTree>
    <p:extLst>
      <p:ext uri="{BB962C8B-B14F-4D97-AF65-F5344CB8AC3E}">
        <p14:creationId xmlns:p14="http://schemas.microsoft.com/office/powerpoint/2010/main" val="593432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pPr>
              <a:defRPr/>
            </a:pPr>
            <a:fld id="{95141E46-6997-4182-B1FC-2DE1887CE440}" type="datetimeFigureOut">
              <a:rPr lang="zh-CN" altLang="en-US" smtClean="0"/>
              <a:pPr>
                <a:defRPr/>
              </a:pPr>
              <a:t>2024/11/22</a:t>
            </a:fld>
            <a:endParaRPr lang="zh-CN" alt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pPr>
              <a:defRPr/>
            </a:pPr>
            <a:fld id="{11880E1D-0E50-4D57-8294-489B106A58B6}" type="slidenum">
              <a:rPr lang="zh-CN" altLang="en-US" smtClean="0"/>
              <a:pPr>
                <a:defRPr/>
              </a:pPr>
              <a:t>‹#›</a:t>
            </a:fld>
            <a:endParaRPr lang="zh-CN" altLang="en-US"/>
          </a:p>
        </p:txBody>
      </p:sp>
    </p:spTree>
    <p:extLst>
      <p:ext uri="{BB962C8B-B14F-4D97-AF65-F5344CB8AC3E}">
        <p14:creationId xmlns:p14="http://schemas.microsoft.com/office/powerpoint/2010/main" val="6949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pPr>
              <a:defRPr/>
            </a:pPr>
            <a:fld id="{79670728-64AB-412A-9247-53E0967758CD}" type="datetimeFigureOut">
              <a:rPr lang="zh-CN" altLang="en-US" smtClean="0"/>
              <a:pPr>
                <a:defRPr/>
              </a:pPr>
              <a:t>2024/11/22</a:t>
            </a:fld>
            <a:endParaRPr lang="zh-CN"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pPr>
              <a:defRPr/>
            </a:pPr>
            <a:fld id="{D30D8F88-6061-45EF-8B94-F4CF2469DD74}" type="slidenum">
              <a:rPr lang="zh-CN" altLang="en-US" smtClean="0"/>
              <a:pPr>
                <a:defRPr/>
              </a:pPr>
              <a:t>‹#›</a:t>
            </a:fld>
            <a:endParaRPr lang="zh-CN" altLang="en-US"/>
          </a:p>
        </p:txBody>
      </p:sp>
    </p:spTree>
    <p:extLst>
      <p:ext uri="{BB962C8B-B14F-4D97-AF65-F5344CB8AC3E}">
        <p14:creationId xmlns:p14="http://schemas.microsoft.com/office/powerpoint/2010/main" val="119538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pPr>
              <a:defRPr/>
            </a:pPr>
            <a:fld id="{38EF81CC-B780-43B2-A201-D3399EE4CB5E}" type="datetimeFigureOut">
              <a:rPr lang="zh-CN" altLang="en-US" smtClean="0"/>
              <a:pPr>
                <a:defRPr/>
              </a:pPr>
              <a:t>2024/11/22</a:t>
            </a:fld>
            <a:endParaRPr lang="zh-CN"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pPr>
              <a:defRPr/>
            </a:pPr>
            <a:fld id="{294D952D-FCA0-4AAD-9DAC-766DED05EE83}" type="slidenum">
              <a:rPr lang="zh-CN" altLang="en-US" smtClean="0"/>
              <a:pPr>
                <a:defRPr/>
              </a:pPr>
              <a:t>‹#›</a:t>
            </a:fld>
            <a:endParaRPr lang="zh-CN" altLang="en-US"/>
          </a:p>
        </p:txBody>
      </p:sp>
    </p:spTree>
    <p:extLst>
      <p:ext uri="{BB962C8B-B14F-4D97-AF65-F5344CB8AC3E}">
        <p14:creationId xmlns:p14="http://schemas.microsoft.com/office/powerpoint/2010/main" val="4044490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pPr>
              <a:defRPr/>
            </a:pPr>
            <a:fld id="{29D608E6-C8CA-417E-8638-14E836441F19}" type="datetimeFigureOut">
              <a:rPr lang="zh-CN" altLang="en-US" smtClean="0"/>
              <a:pPr>
                <a:defRPr/>
              </a:pPr>
              <a:t>2024/11/22</a:t>
            </a:fld>
            <a:endParaRPr lang="zh-CN"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pPr>
              <a:defRPr/>
            </a:pPr>
            <a:fld id="{B7A32C7F-4BC8-484D-8460-6D1A777901A1}" type="slidenum">
              <a:rPr lang="zh-CN" altLang="en-US" smtClean="0"/>
              <a:pPr>
                <a:defRPr/>
              </a:pPr>
              <a:t>‹#›</a:t>
            </a:fld>
            <a:endParaRPr lang="zh-CN" altLang="en-US"/>
          </a:p>
        </p:txBody>
      </p:sp>
    </p:spTree>
    <p:extLst>
      <p:ext uri="{BB962C8B-B14F-4D97-AF65-F5344CB8AC3E}">
        <p14:creationId xmlns:p14="http://schemas.microsoft.com/office/powerpoint/2010/main" val="3896620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pPr>
              <a:defRPr/>
            </a:pPr>
            <a:fld id="{D833521F-C812-4568-A6D4-1B9C04A8CF24}" type="datetimeFigureOut">
              <a:rPr lang="zh-CN" altLang="en-US" smtClean="0"/>
              <a:pPr>
                <a:defRPr/>
              </a:pPr>
              <a:t>2024/11/22</a:t>
            </a:fld>
            <a:endParaRPr lang="zh-CN"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a:defRPr/>
            </a:pPr>
            <a:endParaRPr lang="zh-CN"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pPr>
              <a:defRPr/>
            </a:pPr>
            <a:fld id="{559D4875-3A25-41B4-9E5E-393B2B34402C}" type="slidenum">
              <a:rPr lang="zh-CN" altLang="en-US" smtClean="0"/>
              <a:pPr>
                <a:defRPr/>
              </a:pPr>
              <a:t>‹#›</a:t>
            </a:fld>
            <a:endParaRPr lang="zh-CN" altLang="en-US"/>
          </a:p>
        </p:txBody>
      </p:sp>
    </p:spTree>
    <p:extLst>
      <p:ext uri="{BB962C8B-B14F-4D97-AF65-F5344CB8AC3E}">
        <p14:creationId xmlns:p14="http://schemas.microsoft.com/office/powerpoint/2010/main" val="3508818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94429A-C186-0B57-C61A-AA0F2B0DBBC4}"/>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155576D-DC64-D5CD-EDFB-607089DD86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EA3F61B-451C-75D6-736A-940FDC99427C}"/>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5" name="页脚占位符 4">
            <a:extLst>
              <a:ext uri="{FF2B5EF4-FFF2-40B4-BE49-F238E27FC236}">
                <a16:creationId xmlns:a16="http://schemas.microsoft.com/office/drawing/2014/main" id="{5B116AB4-EF31-4EF0-0233-85E28BB0A4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35D344-74CF-D5ED-E437-81A54E7E6FAA}"/>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2170267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D043D3-E359-22D1-8B0A-5C80AD96572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EA9A3B-D3C7-0C8D-730C-AF44663AFDA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158825-1F1B-8689-6B8C-60BE20CD0472}"/>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5" name="页脚占位符 4">
            <a:extLst>
              <a:ext uri="{FF2B5EF4-FFF2-40B4-BE49-F238E27FC236}">
                <a16:creationId xmlns:a16="http://schemas.microsoft.com/office/drawing/2014/main" id="{BDA514CA-7609-A702-82F0-F231D7734A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DF6283-A76C-6E35-EBD8-64899AC2BF7A}"/>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3070173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88EBF0-5B7C-9804-B856-21EE1B0156AD}"/>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F25BEC8-7749-2BC6-2E04-23CD2C18E0DC}"/>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67EE1E5-10D8-1B81-DA99-C69AAAB96811}"/>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5" name="页脚占位符 4">
            <a:extLst>
              <a:ext uri="{FF2B5EF4-FFF2-40B4-BE49-F238E27FC236}">
                <a16:creationId xmlns:a16="http://schemas.microsoft.com/office/drawing/2014/main" id="{206F6CBF-D5A7-34B4-9533-35D9167FBF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8BECE5-9229-1F2C-570A-378DE3C450E5}"/>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2761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231083-59A8-B761-F3E5-4122B489D37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D6AD522-06AB-1171-FDF0-1DF5FF05C821}"/>
              </a:ext>
            </a:extLst>
          </p:cNvPr>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E2D1FFB-9633-49B6-8AFA-C4677C639132}"/>
              </a:ext>
            </a:extLst>
          </p:cNvPr>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652554D-9A5F-2BED-F076-D7A94E3CEBDD}"/>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6" name="页脚占位符 5">
            <a:extLst>
              <a:ext uri="{FF2B5EF4-FFF2-40B4-BE49-F238E27FC236}">
                <a16:creationId xmlns:a16="http://schemas.microsoft.com/office/drawing/2014/main" id="{A7ECBBD6-81C7-0A1D-9197-BA8D267B0EC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C0ED1E-487A-8D02-DC2D-33CDAD64DBF6}"/>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2189172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5E2BC-618E-6F6E-949A-0165D7C92616}"/>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121325E-192D-9592-D642-47CEDF3A270E}"/>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8012194-ADEE-6801-BFF9-55CC47026A2A}"/>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270C5CD-1CB2-A97B-2232-2DDC91687EB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C275601-7ABD-BBE4-BE78-41F978182EE2}"/>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52FA975-5A3B-C3F4-FEF6-A8409FD7E946}"/>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8" name="页脚占位符 7">
            <a:extLst>
              <a:ext uri="{FF2B5EF4-FFF2-40B4-BE49-F238E27FC236}">
                <a16:creationId xmlns:a16="http://schemas.microsoft.com/office/drawing/2014/main" id="{61CFDDB7-62B0-E8FE-6F39-E3E3CF831D6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B9A9C91-8974-D425-581E-5A77921257E7}"/>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3020735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922421-9698-02C3-FDA0-0EA601BD025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627C3DC-5271-A6BC-8B50-DAABD9762969}"/>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4" name="页脚占位符 3">
            <a:extLst>
              <a:ext uri="{FF2B5EF4-FFF2-40B4-BE49-F238E27FC236}">
                <a16:creationId xmlns:a16="http://schemas.microsoft.com/office/drawing/2014/main" id="{7D2A411D-549B-2226-40A2-313BB8830DF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F9AC1D5-D1C8-D3A1-6211-13F59A71373C}"/>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1477236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E6D07AC-3C20-A811-613E-F6F41B4C8F86}"/>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3" name="页脚占位符 2">
            <a:extLst>
              <a:ext uri="{FF2B5EF4-FFF2-40B4-BE49-F238E27FC236}">
                <a16:creationId xmlns:a16="http://schemas.microsoft.com/office/drawing/2014/main" id="{7AD8B130-A8BA-67B7-62AC-22BE9E0B36B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75B69CF-9A2A-1532-3F80-EC7FD5D15578}"/>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42376323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8D798-FD4E-2561-50A3-EBD66BED4560}"/>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E80DBB2-F6C4-BDC1-7403-B7A14DA0391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C93ABD2-F5E1-9D50-4452-8C3378E24E7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F18B83F-E6C2-B712-9D25-E254597AF97F}"/>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6" name="页脚占位符 5">
            <a:extLst>
              <a:ext uri="{FF2B5EF4-FFF2-40B4-BE49-F238E27FC236}">
                <a16:creationId xmlns:a16="http://schemas.microsoft.com/office/drawing/2014/main" id="{30A522E3-4EB4-09AC-A368-57118B7A797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877FA12-84A7-8B44-3DDF-9710B7F89F6A}"/>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467766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CB9235-1894-B674-C501-00531AA8CACF}"/>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4A871AD-DBCE-6722-64B8-7AA5DE5B191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AED8F86-6628-0D08-29EB-7FBA5D65407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1926582-59AD-05CD-D3B9-79EAE89DA630}"/>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6" name="页脚占位符 5">
            <a:extLst>
              <a:ext uri="{FF2B5EF4-FFF2-40B4-BE49-F238E27FC236}">
                <a16:creationId xmlns:a16="http://schemas.microsoft.com/office/drawing/2014/main" id="{F6B8BBB9-E148-5A02-CEF0-6D455B1D6A2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1770CD-AFA5-2EBE-130B-084E5A6355C0}"/>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10988202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F4E6-16B9-B668-D09B-D71EE451586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D4EBFA1-7569-175C-5F12-174272368D2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3F39EC-0267-B982-03F3-626E3929CE02}"/>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5" name="页脚占位符 4">
            <a:extLst>
              <a:ext uri="{FF2B5EF4-FFF2-40B4-BE49-F238E27FC236}">
                <a16:creationId xmlns:a16="http://schemas.microsoft.com/office/drawing/2014/main" id="{C052B0A9-AF88-4C7A-3851-D175CC01EE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062D47-0DD9-4A16-35CF-3FD90EBA6127}"/>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6362262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AAA6E31-C787-E60C-7F7D-F8D4D4A6B883}"/>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AFC462C-5085-A280-36CC-2CA44F569594}"/>
              </a:ext>
            </a:extLst>
          </p:cNvPr>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BB526B-691D-B6A4-E302-CCEDF296EC77}"/>
              </a:ext>
            </a:extLst>
          </p:cNvPr>
          <p:cNvSpPr>
            <a:spLocks noGrp="1"/>
          </p:cNvSpPr>
          <p:nvPr>
            <p:ph type="dt" sz="half" idx="10"/>
          </p:nvPr>
        </p:nvSpPr>
        <p:spPr/>
        <p:txBody>
          <a:bodyPr/>
          <a:lstStyle/>
          <a:p>
            <a:fld id="{A667EB76-9078-47E4-9C08-D4986B70C900}" type="datetimeFigureOut">
              <a:rPr lang="zh-CN" altLang="en-US" smtClean="0"/>
              <a:t>2024/11/22</a:t>
            </a:fld>
            <a:endParaRPr lang="zh-CN" altLang="en-US"/>
          </a:p>
        </p:txBody>
      </p:sp>
      <p:sp>
        <p:nvSpPr>
          <p:cNvPr id="5" name="页脚占位符 4">
            <a:extLst>
              <a:ext uri="{FF2B5EF4-FFF2-40B4-BE49-F238E27FC236}">
                <a16:creationId xmlns:a16="http://schemas.microsoft.com/office/drawing/2014/main" id="{7FB3EEBD-30E8-49E3-4ED6-38E8C518796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0849D8-5752-A929-5D2C-385909BBD692}"/>
              </a:ext>
            </a:extLst>
          </p:cNvPr>
          <p:cNvSpPr>
            <a:spLocks noGrp="1"/>
          </p:cNvSpPr>
          <p:nvPr>
            <p:ph type="sldNum" sz="quarter" idx="12"/>
          </p:nvPr>
        </p:nvSpPr>
        <p:spPr/>
        <p:txBody>
          <a:body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474555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5">
            <a:extLst>
              <a:ext uri="{FF2B5EF4-FFF2-40B4-BE49-F238E27FC236}">
                <a16:creationId xmlns:a16="http://schemas.microsoft.com/office/drawing/2014/main" id="{111D6D3A-8F1B-FAE4-65EC-8805B816744B}"/>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004330" y="95790"/>
            <a:ext cx="2017752" cy="585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6">
            <a:extLst>
              <a:ext uri="{FF2B5EF4-FFF2-40B4-BE49-F238E27FC236}">
                <a16:creationId xmlns:a16="http://schemas.microsoft.com/office/drawing/2014/main" id="{A2916331-1949-4DCF-FC14-13F19FCF6BC0}"/>
              </a:ext>
            </a:extLst>
          </p:cNvPr>
          <p:cNvCxnSpPr>
            <a:cxnSpLocks noChangeShapeType="1"/>
          </p:cNvCxnSpPr>
          <p:nvPr userDrawn="1"/>
        </p:nvCxnSpPr>
        <p:spPr bwMode="auto">
          <a:xfrm>
            <a:off x="0" y="709099"/>
            <a:ext cx="9144000" cy="0"/>
          </a:xfrm>
          <a:prstGeom prst="line">
            <a:avLst/>
          </a:prstGeom>
          <a:ln w="28575">
            <a:solidFill>
              <a:srgbClr val="004182"/>
            </a:solidFill>
            <a:headEnd/>
            <a:tailEn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545099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AF9100C-EDE2-95CF-2A4B-34B699CD9460}"/>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17E08E8-CAC5-8468-0E87-E0B85B55EDD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F4BFE7-5072-31BE-624E-D0EA35697B6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67EB76-9078-47E4-9C08-D4986B70C900}" type="datetimeFigureOut">
              <a:rPr lang="zh-CN" altLang="en-US" smtClean="0"/>
              <a:t>2024/11/22</a:t>
            </a:fld>
            <a:endParaRPr lang="zh-CN" altLang="en-US"/>
          </a:p>
        </p:txBody>
      </p:sp>
      <p:sp>
        <p:nvSpPr>
          <p:cNvPr id="5" name="页脚占位符 4">
            <a:extLst>
              <a:ext uri="{FF2B5EF4-FFF2-40B4-BE49-F238E27FC236}">
                <a16:creationId xmlns:a16="http://schemas.microsoft.com/office/drawing/2014/main" id="{EA092C0D-7A60-FFB2-3131-F724335846D7}"/>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174840F-80BE-1276-E34F-D7966851C05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5897E-9697-4374-BAF7-EAED94D23DCA}" type="slidenum">
              <a:rPr lang="zh-CN" altLang="en-US" smtClean="0"/>
              <a:t>‹#›</a:t>
            </a:fld>
            <a:endParaRPr lang="zh-CN" altLang="en-US"/>
          </a:p>
        </p:txBody>
      </p:sp>
    </p:spTree>
    <p:extLst>
      <p:ext uri="{BB962C8B-B14F-4D97-AF65-F5344CB8AC3E}">
        <p14:creationId xmlns:p14="http://schemas.microsoft.com/office/powerpoint/2010/main" val="329252686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文本框 3"/>
          <p:cNvSpPr txBox="1">
            <a:spLocks noChangeArrowheads="1"/>
          </p:cNvSpPr>
          <p:nvPr/>
        </p:nvSpPr>
        <p:spPr bwMode="auto">
          <a:xfrm>
            <a:off x="1762900" y="2974471"/>
            <a:ext cx="6304359" cy="523220"/>
          </a:xfrm>
          <a:prstGeom prst="rect">
            <a:avLst/>
          </a:prstGeom>
          <a:noFill/>
          <a:ln w="9525">
            <a:noFill/>
            <a:miter lim="800000"/>
            <a:headEnd/>
            <a:tailEnd/>
          </a:ln>
        </p:spPr>
        <p:txBody>
          <a:bodyPr>
            <a:spAutoFit/>
          </a:bodyPr>
          <a:lstStyle/>
          <a:p>
            <a:r>
              <a:rPr lang="zh-CN" altLang="en-US" sz="2800" b="1" dirty="0">
                <a:solidFill>
                  <a:srgbClr val="1F4E79"/>
                </a:solidFill>
                <a:latin typeface="Times New Roman"/>
                <a:ea typeface="微软雅黑" pitchFamily="34" charset="-122"/>
                <a:cs typeface="Times New Roman"/>
              </a:rPr>
              <a:t>第十章   大数据治理法律法规</a:t>
            </a:r>
            <a:endParaRPr lang="en-US" altLang="zh-CN" sz="2800" b="1" dirty="0">
              <a:solidFill>
                <a:srgbClr val="1F4E79"/>
              </a:solidFill>
              <a:latin typeface="Times New Roman"/>
              <a:ea typeface="微软雅黑" pitchFamily="34" charset="-122"/>
              <a:cs typeface="Times New Roman"/>
            </a:endParaRPr>
          </a:p>
        </p:txBody>
      </p:sp>
      <p:cxnSp>
        <p:nvCxnSpPr>
          <p:cNvPr id="15" name="直接连接符 14"/>
          <p:cNvCxnSpPr/>
          <p:nvPr/>
        </p:nvCxnSpPr>
        <p:spPr>
          <a:xfrm>
            <a:off x="1479947" y="2208824"/>
            <a:ext cx="0" cy="2021681"/>
          </a:xfrm>
          <a:prstGeom prst="line">
            <a:avLst/>
          </a:prstGeom>
          <a:ln w="152400" cmpd="tri">
            <a:solidFill>
              <a:srgbClr val="004182"/>
            </a:solidFill>
          </a:ln>
        </p:spPr>
        <p:style>
          <a:lnRef idx="1">
            <a:schemeClr val="accent1"/>
          </a:lnRef>
          <a:fillRef idx="0">
            <a:schemeClr val="accent1"/>
          </a:fillRef>
          <a:effectRef idx="0">
            <a:schemeClr val="accent1"/>
          </a:effectRef>
          <a:fontRef idx="minor">
            <a:schemeClr val="tx1"/>
          </a:fontRef>
        </p:style>
      </p:cxnSp>
      <p:sp>
        <p:nvSpPr>
          <p:cNvPr id="14339" name="文本框 18"/>
          <p:cNvSpPr txBox="1">
            <a:spLocks noChangeArrowheads="1"/>
          </p:cNvSpPr>
          <p:nvPr/>
        </p:nvSpPr>
        <p:spPr bwMode="auto">
          <a:xfrm>
            <a:off x="1670121" y="4621005"/>
            <a:ext cx="6304360" cy="1093184"/>
          </a:xfrm>
          <a:prstGeom prst="rect">
            <a:avLst/>
          </a:prstGeom>
          <a:noFill/>
          <a:ln w="9525">
            <a:noFill/>
            <a:miter lim="800000"/>
            <a:headEnd/>
            <a:tailEnd/>
          </a:ln>
        </p:spPr>
        <p:txBody>
          <a:bodyPr wrap="square">
            <a:spAutoFit/>
          </a:bodyPr>
          <a:lstStyle/>
          <a:p>
            <a:pPr algn="r">
              <a:lnSpc>
                <a:spcPct val="140000"/>
              </a:lnSpc>
            </a:pPr>
            <a:r>
              <a:rPr lang="zh-CN" altLang="en-US" sz="2000" dirty="0">
                <a:latin typeface="Times New Roman"/>
                <a:ea typeface="微软雅黑" pitchFamily="34" charset="-122"/>
                <a:cs typeface="Times New Roman"/>
              </a:rPr>
              <a:t>马  晶</a:t>
            </a:r>
            <a:endParaRPr lang="en-US" altLang="zh-CN" sz="2000" dirty="0">
              <a:latin typeface="Times New Roman"/>
              <a:ea typeface="微软雅黑" pitchFamily="34" charset="-122"/>
              <a:cs typeface="Times New Roman"/>
            </a:endParaRPr>
          </a:p>
          <a:p>
            <a:pPr algn="r">
              <a:lnSpc>
                <a:spcPct val="140000"/>
              </a:lnSpc>
            </a:pPr>
            <a:r>
              <a:rPr lang="zh-CN" altLang="en-US" sz="1400" dirty="0">
                <a:solidFill>
                  <a:srgbClr val="525252"/>
                </a:solidFill>
                <a:latin typeface="Times New Roman"/>
                <a:ea typeface="微软雅黑" pitchFamily="34" charset="-122"/>
                <a:cs typeface="Times New Roman"/>
              </a:rPr>
              <a:t>经济与管理学院 信息管理系</a:t>
            </a:r>
            <a:endParaRPr lang="en-US" altLang="zh-CN" sz="1400" dirty="0">
              <a:solidFill>
                <a:srgbClr val="525252"/>
              </a:solidFill>
              <a:latin typeface="Times New Roman"/>
              <a:ea typeface="微软雅黑" pitchFamily="34" charset="-122"/>
              <a:cs typeface="Times New Roman"/>
            </a:endParaRPr>
          </a:p>
          <a:p>
            <a:pPr algn="r">
              <a:lnSpc>
                <a:spcPct val="140000"/>
              </a:lnSpc>
            </a:pPr>
            <a:r>
              <a:rPr lang="en-US" altLang="zh-CN" sz="1400" dirty="0">
                <a:solidFill>
                  <a:srgbClr val="525252"/>
                </a:solidFill>
                <a:latin typeface="Times New Roman"/>
                <a:ea typeface="微软雅黑" pitchFamily="34" charset="-122"/>
                <a:cs typeface="Times New Roman"/>
              </a:rPr>
              <a:t>Email:</a:t>
            </a:r>
            <a:r>
              <a:rPr lang="zh-CN" altLang="en-US" sz="1400" dirty="0">
                <a:solidFill>
                  <a:srgbClr val="525252"/>
                </a:solidFill>
                <a:latin typeface="Times New Roman"/>
                <a:ea typeface="微软雅黑" pitchFamily="34" charset="-122"/>
                <a:cs typeface="Times New Roman"/>
              </a:rPr>
              <a:t> </a:t>
            </a:r>
            <a:r>
              <a:rPr lang="en-US" altLang="zh-CN" sz="1400" dirty="0" err="1">
                <a:solidFill>
                  <a:srgbClr val="525252"/>
                </a:solidFill>
                <a:latin typeface="Times New Roman"/>
                <a:ea typeface="微软雅黑" pitchFamily="34" charset="-122"/>
                <a:cs typeface="Times New Roman"/>
              </a:rPr>
              <a:t>majing@xidian.edu.cn</a:t>
            </a:r>
            <a:endParaRPr lang="en-US" altLang="zh-CN" sz="1400" dirty="0">
              <a:solidFill>
                <a:srgbClr val="525252"/>
              </a:solidFill>
              <a:latin typeface="Times New Roman"/>
              <a:ea typeface="微软雅黑" pitchFamily="34" charset="-122"/>
              <a:cs typeface="Times New Roman"/>
            </a:endParaRPr>
          </a:p>
        </p:txBody>
      </p:sp>
      <p:pic>
        <p:nvPicPr>
          <p:cNvPr id="6" name="图片 5">
            <a:extLst>
              <a:ext uri="{FF2B5EF4-FFF2-40B4-BE49-F238E27FC236}">
                <a16:creationId xmlns:a16="http://schemas.microsoft.com/office/drawing/2014/main" id="{756C1E14-3858-48B8-8B2C-723F5E9FEB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26951" y="414291"/>
            <a:ext cx="2638283" cy="767228"/>
          </a:xfrm>
          <a:prstGeom prst="rect">
            <a:avLst/>
          </a:prstGeom>
        </p:spPr>
      </p:pic>
    </p:spTree>
    <p:extLst>
      <p:ext uri="{BB962C8B-B14F-4D97-AF65-F5344CB8AC3E}">
        <p14:creationId xmlns:p14="http://schemas.microsoft.com/office/powerpoint/2010/main" val="774712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标题 1">
            <a:extLst>
              <a:ext uri="{FF2B5EF4-FFF2-40B4-BE49-F238E27FC236}">
                <a16:creationId xmlns:a16="http://schemas.microsoft.com/office/drawing/2014/main" id="{F56A83FF-8B5A-59C2-68E6-16F7FD7C1E92}"/>
              </a:ext>
            </a:extLst>
          </p:cNvPr>
          <p:cNvSpPr>
            <a:spLocks noGrp="1"/>
          </p:cNvSpPr>
          <p:nvPr>
            <p:ph type="title" idx="4294967295"/>
          </p:nvPr>
        </p:nvSpPr>
        <p:spPr>
          <a:xfrm>
            <a:off x="228648" y="212965"/>
            <a:ext cx="7886700" cy="366713"/>
          </a:xfrm>
          <a:prstGeom prst="rect">
            <a:avLst/>
          </a:prstGeom>
        </p:spPr>
        <p:txBody>
          <a:bodyPr>
            <a:noAutofit/>
          </a:bodyPr>
          <a:lstStyle/>
          <a:p>
            <a:r>
              <a:rPr lang="en-US" altLang="zh-CN" sz="2400" dirty="0">
                <a:latin typeface="黑体" panose="02010609060101010101" pitchFamily="49" charset="-122"/>
                <a:ea typeface="宋体" panose="02010600030101010101" pitchFamily="2" charset="-122"/>
              </a:rPr>
              <a:t>10.1 </a:t>
            </a:r>
            <a:r>
              <a:rPr lang="zh-CN" altLang="en-US" sz="2400" dirty="0">
                <a:latin typeface="黑体" panose="02010609060101010101" pitchFamily="49" charset="-122"/>
                <a:ea typeface="宋体" panose="02010600030101010101" pitchFamily="2" charset="-122"/>
              </a:rPr>
              <a:t>概述</a:t>
            </a:r>
          </a:p>
        </p:txBody>
      </p:sp>
      <p:sp>
        <p:nvSpPr>
          <p:cNvPr id="18" name="圆角矩形 17">
            <a:extLst>
              <a:ext uri="{FF2B5EF4-FFF2-40B4-BE49-F238E27FC236}">
                <a16:creationId xmlns:a16="http://schemas.microsoft.com/office/drawing/2014/main" id="{A214D164-219B-4B55-8FD2-00A9E96EF414}"/>
              </a:ext>
            </a:extLst>
          </p:cNvPr>
          <p:cNvSpPr/>
          <p:nvPr/>
        </p:nvSpPr>
        <p:spPr>
          <a:xfrm>
            <a:off x="1246418" y="1227551"/>
            <a:ext cx="7724327" cy="5378984"/>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lnSpc>
                <a:spcPct val="150000"/>
              </a:lnSpc>
              <a:spcBef>
                <a:spcPts val="150"/>
              </a:spcBef>
            </a:pP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zh-CN" altLang="en-US"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滴滴出行</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是涵盖出租车 、专车  、滴滴快车 、顺风车  、代驾及大巴、货运等多项业务在内的一站式出行平台，滴滴</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2021</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年总营收为</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1738.3</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亿元， </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2015</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09</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09</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日由“滴滴打车”更名而来。</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2021</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年</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6</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11</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日</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，滴滴出行正式向美国证券交易委员会递交了</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IPO</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招股书，截至</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2021</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3</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31</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日的三个月，实现营收为</a:t>
            </a:r>
            <a:r>
              <a:rPr lang="en-US" altLang="zh-CN"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422</a:t>
            </a:r>
            <a:r>
              <a:rPr lang="zh-CN" altLang="en-US"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亿元</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6</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30</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日</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，滴滴正式在纽交所挂牌上市，股票代码为 </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"DIDI"</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p>
          <a:p>
            <a:pPr algn="just">
              <a:lnSpc>
                <a:spcPct val="150000"/>
              </a:lnSpc>
              <a:spcBef>
                <a:spcPts val="150"/>
              </a:spcBef>
            </a:pP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2021</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年</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7</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2</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日</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，网络安全审查办公室公告称，</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对“滴滴出行”实施网络安全审查</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，审查期间“滴滴出行”停止新用户注册。  </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7</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4</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日，国家互联网信息办公室通报称：根据举报，</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经检测核实，“滴滴出行”</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App</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存在严重违法违规收集使用个人信息问题。</a:t>
            </a:r>
            <a:r>
              <a:rPr lang="zh-CN" altLang="en-US"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国家互联网信息办公室依据</a:t>
            </a:r>
            <a:r>
              <a:rPr lang="en-US" altLang="zh-CN"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中华人民共和国网络安全法</a:t>
            </a:r>
            <a:r>
              <a:rPr lang="en-US" altLang="zh-CN"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相关规定，通知应用商店下架“滴滴出行”</a:t>
            </a:r>
            <a:r>
              <a:rPr lang="en-US" altLang="zh-CN"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App</a:t>
            </a:r>
            <a:r>
              <a:rPr lang="zh-CN" altLang="en-US" sz="15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2021</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7</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16</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日，</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国家互联网信息办公室等七部门进驻滴滴出行科技有限公司开展网络安全审查。 </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2022</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年</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7</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21</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日</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，国家互联网信息办公室依据</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网络安全法</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数据安全法</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个人信息保护法</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行政处罚法</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等法律法规，对滴滴全球股份有限公司处人民币</a:t>
            </a:r>
            <a:r>
              <a:rPr lang="en-US" altLang="zh-CN"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80.26</a:t>
            </a:r>
            <a:r>
              <a:rPr lang="zh-CN" altLang="en-US" sz="15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亿元罚款</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p>
          <a:p>
            <a:pPr algn="just">
              <a:lnSpc>
                <a:spcPct val="150000"/>
              </a:lnSpc>
              <a:spcBef>
                <a:spcPts val="150"/>
              </a:spcBef>
            </a:pP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2023</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1</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月</a:t>
            </a:r>
            <a:r>
              <a:rPr lang="en-US" altLang="zh-CN" sz="1500" b="1" dirty="0">
                <a:solidFill>
                  <a:srgbClr val="333333"/>
                </a:solidFill>
                <a:latin typeface="宋体" panose="02010600030101010101" pitchFamily="2" charset="-122"/>
                <a:ea typeface="宋体" panose="02010600030101010101" pitchFamily="2" charset="-122"/>
                <a:cs typeface="宋体" panose="02010600030101010101" pitchFamily="2" charset="-122"/>
              </a:rPr>
              <a:t>16</a:t>
            </a: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日，经报网络安全审查办公室同意，即日起恢复“滴滴出行”的新用户注册</a:t>
            </a:r>
            <a:r>
              <a:rPr lang="zh-CN" altLang="en-US" sz="14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endParaRPr lang="en-US" altLang="zh-CN" sz="1400" dirty="0">
              <a:solidFill>
                <a:schemeClr val="tx1"/>
              </a:solidFill>
              <a:latin typeface="SimSun" panose="02010600030101010101" pitchFamily="2" charset="-122"/>
              <a:ea typeface="SimSun" panose="02010600030101010101" pitchFamily="2" charset="-122"/>
            </a:endParaRPr>
          </a:p>
        </p:txBody>
      </p:sp>
      <p:sp>
        <p:nvSpPr>
          <p:cNvPr id="19" name="圆角矩形 18">
            <a:extLst>
              <a:ext uri="{FF2B5EF4-FFF2-40B4-BE49-F238E27FC236}">
                <a16:creationId xmlns:a16="http://schemas.microsoft.com/office/drawing/2014/main" id="{830383E8-5CA7-6EFF-6B47-4877F7DEA209}"/>
              </a:ext>
            </a:extLst>
          </p:cNvPr>
          <p:cNvSpPr/>
          <p:nvPr/>
        </p:nvSpPr>
        <p:spPr>
          <a:xfrm>
            <a:off x="1156867" y="988777"/>
            <a:ext cx="1567078" cy="3667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50" b="1" dirty="0"/>
              <a:t>案例导入</a:t>
            </a:r>
          </a:p>
        </p:txBody>
      </p:sp>
      <p:grpSp>
        <p:nvGrpSpPr>
          <p:cNvPr id="3" name="组合 2">
            <a:extLst>
              <a:ext uri="{FF2B5EF4-FFF2-40B4-BE49-F238E27FC236}">
                <a16:creationId xmlns:a16="http://schemas.microsoft.com/office/drawing/2014/main" id="{2DD36D16-72C7-9CF5-3113-9721F68BFEA4}"/>
              </a:ext>
            </a:extLst>
          </p:cNvPr>
          <p:cNvGrpSpPr/>
          <p:nvPr/>
        </p:nvGrpSpPr>
        <p:grpSpPr>
          <a:xfrm>
            <a:off x="9625" y="741145"/>
            <a:ext cx="1046951" cy="6116855"/>
            <a:chOff x="9625" y="741145"/>
            <a:chExt cx="1046951" cy="6116855"/>
          </a:xfrm>
        </p:grpSpPr>
        <p:sp>
          <p:nvSpPr>
            <p:cNvPr id="5" name="矩形 4">
              <a:extLst>
                <a:ext uri="{FF2B5EF4-FFF2-40B4-BE49-F238E27FC236}">
                  <a16:creationId xmlns:a16="http://schemas.microsoft.com/office/drawing/2014/main" id="{F71A7475-0033-01E7-8DF5-5CAE78EE96D7}"/>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矩形 7">
              <a:extLst>
                <a:ext uri="{FF2B5EF4-FFF2-40B4-BE49-F238E27FC236}">
                  <a16:creationId xmlns:a16="http://schemas.microsoft.com/office/drawing/2014/main" id="{29EEC46C-9EFB-64B0-F17A-358A66C80F45}"/>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9" name="矩形 8">
              <a:extLst>
                <a:ext uri="{FF2B5EF4-FFF2-40B4-BE49-F238E27FC236}">
                  <a16:creationId xmlns:a16="http://schemas.microsoft.com/office/drawing/2014/main" id="{216DBD95-2F88-4CF1-021F-8678F5A840E8}"/>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11" name="矩形 10">
              <a:extLst>
                <a:ext uri="{FF2B5EF4-FFF2-40B4-BE49-F238E27FC236}">
                  <a16:creationId xmlns:a16="http://schemas.microsoft.com/office/drawing/2014/main" id="{DDAAB54E-F217-84AE-1BFB-007CCDC66B87}"/>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 name="矩形 1">
              <a:extLst>
                <a:ext uri="{FF2B5EF4-FFF2-40B4-BE49-F238E27FC236}">
                  <a16:creationId xmlns:a16="http://schemas.microsoft.com/office/drawing/2014/main" id="{F284B984-BEFE-0B80-E396-6B7CACA82C88}"/>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83903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236793" y="1602937"/>
            <a:ext cx="7786681" cy="4393602"/>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lnSpc>
                <a:spcPct val="150000"/>
              </a:lnSpc>
              <a:spcBef>
                <a:spcPts val="150"/>
              </a:spcBef>
            </a:pPr>
            <a:r>
              <a:rPr lang="zh-CN" altLang="en-US" b="1" dirty="0">
                <a:solidFill>
                  <a:srgbClr val="333333"/>
                </a:solidFill>
                <a:latin typeface="宋体" panose="02010600030101010101" pitchFamily="2" charset="-122"/>
                <a:ea typeface="宋体" panose="02010600030101010101" pitchFamily="2" charset="-122"/>
                <a:cs typeface="宋体" panose="02010600030101010101" pitchFamily="2" charset="-122"/>
              </a:rPr>
              <a:t>国家互联网信息办公室对</a:t>
            </a:r>
            <a:r>
              <a:rPr lang="zh-CN" altLang="en-US"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滴滴全球股份有限公司</a:t>
            </a:r>
            <a:r>
              <a:rPr lang="zh-CN" altLang="en-US" b="1" dirty="0">
                <a:solidFill>
                  <a:srgbClr val="333333"/>
                </a:solidFill>
                <a:latin typeface="宋体" panose="02010600030101010101" pitchFamily="2" charset="-122"/>
                <a:ea typeface="宋体" panose="02010600030101010101" pitchFamily="2" charset="-122"/>
                <a:cs typeface="宋体" panose="02010600030101010101" pitchFamily="2" charset="-122"/>
              </a:rPr>
              <a:t>依法作出</a:t>
            </a:r>
          </a:p>
          <a:p>
            <a:pPr algn="ctr">
              <a:lnSpc>
                <a:spcPct val="150000"/>
              </a:lnSpc>
              <a:spcBef>
                <a:spcPts val="150"/>
              </a:spcBef>
            </a:pPr>
            <a:r>
              <a:rPr lang="zh-CN" altLang="en-US" b="1" dirty="0">
                <a:solidFill>
                  <a:srgbClr val="333333"/>
                </a:solidFill>
                <a:latin typeface="宋体" panose="02010600030101010101" pitchFamily="2" charset="-122"/>
                <a:ea typeface="宋体" panose="02010600030101010101" pitchFamily="2" charset="-122"/>
                <a:cs typeface="宋体" panose="02010600030101010101" pitchFamily="2" charset="-122"/>
              </a:rPr>
              <a:t>网络安全审查相关行政处罚的决定</a:t>
            </a:r>
          </a:p>
          <a:p>
            <a:pPr>
              <a:lnSpc>
                <a:spcPct val="150000"/>
              </a:lnSpc>
              <a:spcBef>
                <a:spcPts val="150"/>
              </a:spcBef>
            </a:pPr>
            <a:endPar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spcBef>
                <a:spcPts val="150"/>
              </a:spcBef>
            </a:pP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根据网络安全审查结论及发现的问题和线索，国家互联网信息办公室依法对滴滴全球股份有限公司涉嫌违法行为进行立案调查。经查实，滴滴全球股份有限公司违反</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网络安全法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数据安全法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个人信息保护法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的违法违规行为事实清楚、证据确凿、情节严重、性质恶劣。</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2022</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7</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月</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21</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日，国家互联网信息办公室依据</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网络安全法</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数据安全法</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个人信息保护法</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行政处罚法</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等法律法规，对滴滴全球股份有限公司处人民币</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80.26</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亿元罚款</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，对滴滴全球股份有限公司</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董事长兼</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CEO</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程维、总裁柳青</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各处人民币</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100</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万元罚款</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p:txBody>
      </p:sp>
      <p:sp>
        <p:nvSpPr>
          <p:cNvPr id="6" name="标题 1">
            <a:extLst>
              <a:ext uri="{FF2B5EF4-FFF2-40B4-BE49-F238E27FC236}">
                <a16:creationId xmlns:a16="http://schemas.microsoft.com/office/drawing/2014/main" id="{95C49FD5-FDA7-7392-81E2-1BE2E47832EE}"/>
              </a:ext>
            </a:extLst>
          </p:cNvPr>
          <p:cNvSpPr>
            <a:spLocks noGrp="1"/>
          </p:cNvSpPr>
          <p:nvPr>
            <p:ph type="title" idx="4294967295"/>
          </p:nvPr>
        </p:nvSpPr>
        <p:spPr>
          <a:xfrm>
            <a:off x="228648" y="212965"/>
            <a:ext cx="7886700" cy="366713"/>
          </a:xfrm>
          <a:prstGeom prst="rect">
            <a:avLst/>
          </a:prstGeom>
        </p:spPr>
        <p:txBody>
          <a:bodyPr>
            <a:noAutofit/>
          </a:bodyPr>
          <a:lstStyle/>
          <a:p>
            <a:r>
              <a:rPr lang="en-US" altLang="zh-CN" sz="2400" dirty="0">
                <a:latin typeface="黑体" panose="02010609060101010101" pitchFamily="49" charset="-122"/>
                <a:ea typeface="宋体" panose="02010600030101010101" pitchFamily="2" charset="-122"/>
              </a:rPr>
              <a:t>10.1 </a:t>
            </a:r>
            <a:r>
              <a:rPr lang="zh-CN" altLang="en-US" sz="2400" dirty="0">
                <a:latin typeface="黑体" panose="02010609060101010101" pitchFamily="49" charset="-122"/>
                <a:ea typeface="宋体" panose="02010600030101010101" pitchFamily="2" charset="-122"/>
              </a:rPr>
              <a:t>概述</a:t>
            </a:r>
          </a:p>
        </p:txBody>
      </p:sp>
      <p:sp>
        <p:nvSpPr>
          <p:cNvPr id="20" name="圆角矩形 18">
            <a:extLst>
              <a:ext uri="{FF2B5EF4-FFF2-40B4-BE49-F238E27FC236}">
                <a16:creationId xmlns:a16="http://schemas.microsoft.com/office/drawing/2014/main" id="{8EA38B86-F480-5208-0FD2-3573DD2F33D8}"/>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处罚决定</a:t>
            </a:r>
          </a:p>
        </p:txBody>
      </p:sp>
      <p:grpSp>
        <p:nvGrpSpPr>
          <p:cNvPr id="21" name="组合 20">
            <a:extLst>
              <a:ext uri="{FF2B5EF4-FFF2-40B4-BE49-F238E27FC236}">
                <a16:creationId xmlns:a16="http://schemas.microsoft.com/office/drawing/2014/main" id="{FADCDE1D-6F17-2883-92DA-28410FD88A0F}"/>
              </a:ext>
            </a:extLst>
          </p:cNvPr>
          <p:cNvGrpSpPr/>
          <p:nvPr/>
        </p:nvGrpSpPr>
        <p:grpSpPr>
          <a:xfrm>
            <a:off x="9625" y="741145"/>
            <a:ext cx="1046951" cy="6116855"/>
            <a:chOff x="9625" y="741145"/>
            <a:chExt cx="1046951" cy="6116855"/>
          </a:xfrm>
        </p:grpSpPr>
        <p:sp>
          <p:nvSpPr>
            <p:cNvPr id="22" name="矩形 21">
              <a:extLst>
                <a:ext uri="{FF2B5EF4-FFF2-40B4-BE49-F238E27FC236}">
                  <a16:creationId xmlns:a16="http://schemas.microsoft.com/office/drawing/2014/main" id="{1FEA456C-8B57-653B-BADB-895C4CD2538A}"/>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3" name="矩形 22">
              <a:extLst>
                <a:ext uri="{FF2B5EF4-FFF2-40B4-BE49-F238E27FC236}">
                  <a16:creationId xmlns:a16="http://schemas.microsoft.com/office/drawing/2014/main" id="{44DE23C0-C256-0493-D032-4D7AA3334CD2}"/>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4" name="矩形 23">
              <a:extLst>
                <a:ext uri="{FF2B5EF4-FFF2-40B4-BE49-F238E27FC236}">
                  <a16:creationId xmlns:a16="http://schemas.microsoft.com/office/drawing/2014/main" id="{59650B5F-E73C-342F-2D55-C9160FE9A944}"/>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5" name="矩形 24">
              <a:extLst>
                <a:ext uri="{FF2B5EF4-FFF2-40B4-BE49-F238E27FC236}">
                  <a16:creationId xmlns:a16="http://schemas.microsoft.com/office/drawing/2014/main" id="{46E954D1-BE30-0123-BF59-76C15C602C0E}"/>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6" name="矩形 25">
              <a:extLst>
                <a:ext uri="{FF2B5EF4-FFF2-40B4-BE49-F238E27FC236}">
                  <a16:creationId xmlns:a16="http://schemas.microsoft.com/office/drawing/2014/main" id="{7127FC6E-D5F2-0ED1-BCDD-1D407E390590}"/>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330401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256043" y="1602937"/>
            <a:ext cx="7786681" cy="4279465"/>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经查明，滴滴公司共存在</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16</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项违法事实，归纳起来主要是</a:t>
            </a:r>
            <a:r>
              <a:rPr lang="en-US" altLang="zh-CN" sz="16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8</a:t>
            </a:r>
            <a:r>
              <a:rPr lang="zh-CN" altLang="en-US" sz="16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个方面</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一是违法收集用户手机</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相册中的截图信息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1196.39</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万条；</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二是过度收集</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用户剪切板信息、应用列表信息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83.23</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亿条；</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三是过度收集</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乘客人脸识别信息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1.07</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亿条、</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年龄段信息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5350.92</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万条、  </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职业信息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1633.56</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万条、</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亲情关系信息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138.29</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万条、</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“家”和“公司”</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打车地址信息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1.53</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亿条；</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四是过度收集乘客评价代驾服务时、</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App</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后台运行时、手机连接桔视记录仪设备时的</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精准位置（经纬度）信息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1.67</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亿条；</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五是过度收集</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司机学历信息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14.29</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万条，以</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明文形式存储司机身份证号信息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5780.26</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万条；</a:t>
            </a:r>
          </a:p>
        </p:txBody>
      </p:sp>
      <p:sp>
        <p:nvSpPr>
          <p:cNvPr id="19" name="圆角矩形 18">
            <a:extLst>
              <a:ext uri="{FF2B5EF4-FFF2-40B4-BE49-F238E27FC236}">
                <a16:creationId xmlns:a16="http://schemas.microsoft.com/office/drawing/2014/main" id="{830383E8-5CA7-6EFF-6B47-4877F7DEA209}"/>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处罚决定</a:t>
            </a:r>
          </a:p>
        </p:txBody>
      </p:sp>
      <p:sp>
        <p:nvSpPr>
          <p:cNvPr id="3" name="标题 1">
            <a:extLst>
              <a:ext uri="{FF2B5EF4-FFF2-40B4-BE49-F238E27FC236}">
                <a16:creationId xmlns:a16="http://schemas.microsoft.com/office/drawing/2014/main" id="{FE404656-60F3-7279-894C-8EAA03A465DD}"/>
              </a:ext>
            </a:extLst>
          </p:cNvPr>
          <p:cNvSpPr txBox="1">
            <a:spLocks/>
          </p:cNvSpPr>
          <p:nvPr/>
        </p:nvSpPr>
        <p:spPr>
          <a:xfrm>
            <a:off x="228648" y="222590"/>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grpSp>
        <p:nvGrpSpPr>
          <p:cNvPr id="15" name="组合 14">
            <a:extLst>
              <a:ext uri="{FF2B5EF4-FFF2-40B4-BE49-F238E27FC236}">
                <a16:creationId xmlns:a16="http://schemas.microsoft.com/office/drawing/2014/main" id="{E5B04767-42CD-56B3-8890-EA37EC684568}"/>
              </a:ext>
            </a:extLst>
          </p:cNvPr>
          <p:cNvGrpSpPr/>
          <p:nvPr/>
        </p:nvGrpSpPr>
        <p:grpSpPr>
          <a:xfrm>
            <a:off x="9625" y="741145"/>
            <a:ext cx="1046951" cy="6116855"/>
            <a:chOff x="9625" y="741145"/>
            <a:chExt cx="1046951" cy="6116855"/>
          </a:xfrm>
        </p:grpSpPr>
        <p:sp>
          <p:nvSpPr>
            <p:cNvPr id="16" name="矩形 15">
              <a:extLst>
                <a:ext uri="{FF2B5EF4-FFF2-40B4-BE49-F238E27FC236}">
                  <a16:creationId xmlns:a16="http://schemas.microsoft.com/office/drawing/2014/main" id="{26D5D809-BD0B-B3CB-EFA5-363EF13358BE}"/>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7" name="矩形 16">
              <a:extLst>
                <a:ext uri="{FF2B5EF4-FFF2-40B4-BE49-F238E27FC236}">
                  <a16:creationId xmlns:a16="http://schemas.microsoft.com/office/drawing/2014/main" id="{80F4CCFB-6B2A-B6A7-ECA1-95751D7CB8AC}"/>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0" name="矩形 19">
              <a:extLst>
                <a:ext uri="{FF2B5EF4-FFF2-40B4-BE49-F238E27FC236}">
                  <a16:creationId xmlns:a16="http://schemas.microsoft.com/office/drawing/2014/main" id="{2ECDBC1F-6F13-3463-6F15-41F733D2B484}"/>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1" name="矩形 20">
              <a:extLst>
                <a:ext uri="{FF2B5EF4-FFF2-40B4-BE49-F238E27FC236}">
                  <a16:creationId xmlns:a16="http://schemas.microsoft.com/office/drawing/2014/main" id="{8EE9C65A-140E-6343-7B20-505FC77080EC}"/>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2" name="矩形 21">
              <a:extLst>
                <a:ext uri="{FF2B5EF4-FFF2-40B4-BE49-F238E27FC236}">
                  <a16:creationId xmlns:a16="http://schemas.microsoft.com/office/drawing/2014/main" id="{0E82B71F-0AED-ACA2-F0D9-A3FBC307FBD3}"/>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2778417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256043" y="1602937"/>
            <a:ext cx="7786681" cy="4279465"/>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六是在未明确告知乘客情况下</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分析乘客出行意图信息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539.76</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亿条、</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常驻城市信息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15.38</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亿条、</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异地</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sym typeface="+mn-ea"/>
              </a:rPr>
              <a:t>异地商务</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sym typeface="+mn-ea"/>
              </a:rPr>
              <a:t>/</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旅游信息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3.04</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亿条；</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七是在乘客使用顺风车服务时</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频繁索取无关的“电话权限”</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八是</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未准确、清晰说明用户设备信息等</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19</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项个人信息处理目的。</a:t>
            </a:r>
            <a:endPar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spcBef>
                <a:spcPts val="150"/>
              </a:spcBef>
            </a:pPr>
            <a:endPar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此前，网络安全审查还发现，滴滴公司存在</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严重影响国家安全的数据处理活动</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，以及</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拒不履行监管部门的明确要求，阳奉阴违、恶意逃避监管等其他违法违规问题</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。滴滴公司违法违规运营给</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国家关键信息基础设施安全和数据安全</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带来严重安全风险隐患。因涉及国家安全，依法不公开。</a:t>
            </a:r>
          </a:p>
        </p:txBody>
      </p:sp>
      <p:sp>
        <p:nvSpPr>
          <p:cNvPr id="19" name="圆角矩形 18">
            <a:extLst>
              <a:ext uri="{FF2B5EF4-FFF2-40B4-BE49-F238E27FC236}">
                <a16:creationId xmlns:a16="http://schemas.microsoft.com/office/drawing/2014/main" id="{830383E8-5CA7-6EFF-6B47-4877F7DEA209}"/>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处罚决定</a:t>
            </a:r>
          </a:p>
        </p:txBody>
      </p:sp>
      <p:sp>
        <p:nvSpPr>
          <p:cNvPr id="3" name="标题 1">
            <a:extLst>
              <a:ext uri="{FF2B5EF4-FFF2-40B4-BE49-F238E27FC236}">
                <a16:creationId xmlns:a16="http://schemas.microsoft.com/office/drawing/2014/main" id="{FE404656-60F3-7279-894C-8EAA03A465DD}"/>
              </a:ext>
            </a:extLst>
          </p:cNvPr>
          <p:cNvSpPr txBox="1">
            <a:spLocks/>
          </p:cNvSpPr>
          <p:nvPr/>
        </p:nvSpPr>
        <p:spPr>
          <a:xfrm>
            <a:off x="228648" y="222590"/>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grpSp>
        <p:nvGrpSpPr>
          <p:cNvPr id="2" name="组合 1">
            <a:extLst>
              <a:ext uri="{FF2B5EF4-FFF2-40B4-BE49-F238E27FC236}">
                <a16:creationId xmlns:a16="http://schemas.microsoft.com/office/drawing/2014/main" id="{AF092AD9-559A-952B-0949-9EB5180049D9}"/>
              </a:ext>
            </a:extLst>
          </p:cNvPr>
          <p:cNvGrpSpPr/>
          <p:nvPr/>
        </p:nvGrpSpPr>
        <p:grpSpPr>
          <a:xfrm>
            <a:off x="9625" y="741145"/>
            <a:ext cx="1046951" cy="6116855"/>
            <a:chOff x="9625" y="741145"/>
            <a:chExt cx="1046951" cy="6116855"/>
          </a:xfrm>
        </p:grpSpPr>
        <p:sp>
          <p:nvSpPr>
            <p:cNvPr id="5" name="矩形 4">
              <a:extLst>
                <a:ext uri="{FF2B5EF4-FFF2-40B4-BE49-F238E27FC236}">
                  <a16:creationId xmlns:a16="http://schemas.microsoft.com/office/drawing/2014/main" id="{AA3BAE13-E993-BF86-49FC-DC4473A33C53}"/>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矩形 7">
              <a:extLst>
                <a:ext uri="{FF2B5EF4-FFF2-40B4-BE49-F238E27FC236}">
                  <a16:creationId xmlns:a16="http://schemas.microsoft.com/office/drawing/2014/main" id="{6484767B-7E67-51CB-F6A0-E56F3602DC97}"/>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9" name="矩形 8">
              <a:extLst>
                <a:ext uri="{FF2B5EF4-FFF2-40B4-BE49-F238E27FC236}">
                  <a16:creationId xmlns:a16="http://schemas.microsoft.com/office/drawing/2014/main" id="{8AC2982B-F9D2-34D1-B44E-B383A9136FFA}"/>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11" name="矩形 10">
              <a:extLst>
                <a:ext uri="{FF2B5EF4-FFF2-40B4-BE49-F238E27FC236}">
                  <a16:creationId xmlns:a16="http://schemas.microsoft.com/office/drawing/2014/main" id="{FFD90C54-2C63-4DC6-1804-0CB851327474}"/>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12" name="矩形 11">
              <a:extLst>
                <a:ext uri="{FF2B5EF4-FFF2-40B4-BE49-F238E27FC236}">
                  <a16:creationId xmlns:a16="http://schemas.microsoft.com/office/drawing/2014/main" id="{3E4FBBAA-19AB-0A07-6201-13C679F8A077}"/>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52553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198293" y="1602937"/>
            <a:ext cx="7786681" cy="4279465"/>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spcBef>
                <a:spcPts val="150"/>
              </a:spcBef>
            </a:pP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zh-CN" altLang="en-US" sz="16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滴滴公司成立于</a:t>
            </a:r>
            <a:r>
              <a:rPr lang="en-US" altLang="zh-CN" sz="16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2013</a:t>
            </a:r>
            <a:r>
              <a:rPr lang="zh-CN" altLang="en-US" sz="16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年</a:t>
            </a:r>
            <a:r>
              <a:rPr lang="en-US" altLang="zh-CN" sz="16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1</a:t>
            </a:r>
            <a:r>
              <a:rPr lang="zh-CN" altLang="en-US" sz="16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月</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，相关</a:t>
            </a:r>
            <a:r>
              <a:rPr lang="zh-CN" altLang="en-US" sz="1600" b="1" dirty="0">
                <a:solidFill>
                  <a:srgbClr val="333333"/>
                </a:solidFill>
                <a:highlight>
                  <a:srgbClr val="FFFF00"/>
                </a:highlight>
                <a:latin typeface="宋体" panose="02010600030101010101" pitchFamily="2" charset="-122"/>
                <a:ea typeface="宋体" panose="02010600030101010101" pitchFamily="2" charset="-122"/>
                <a:cs typeface="宋体" panose="02010600030101010101" pitchFamily="2" charset="-122"/>
              </a:rPr>
              <a:t>境内业务线主要包括网约车、顺风车、两轮车、造车</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等，相关</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产品包括滴滴出行</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App</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、滴滴车主</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App</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、滴滴顺风车</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App</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、滴滴企业版</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App</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等</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41</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款</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App</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滴滴公司对境内各业务线重大事项具有最高决策权，制定的企业内部制度规范对境内各业务线全部适用，且对落实情况负监督管理责任。该公司通过滴滴信息与数据安全委员会及其下设的个人信息保护委员会、数据安全委员会，参与网约车、顺风车等业务线相关行为的决策指导、监督管理，各业务线违法行为是在该公司统一决策和部署下的具体落实。据此，</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本案违法行为主体认定为滴滴公司。</a:t>
            </a:r>
            <a:endPar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滴滴公司董事长兼</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CEO</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程维、总裁柳青，对违法行为负主管责任。</a:t>
            </a:r>
            <a:endParaRPr lang="zh-CN" altLang="en-US" sz="1400" b="1" dirty="0">
              <a:solidFill>
                <a:srgbClr val="333333"/>
              </a:solidFill>
              <a:latin typeface="宋体" panose="02010600030101010101" pitchFamily="2" charset="-122"/>
              <a:ea typeface="宋体" panose="02010600030101010101" pitchFamily="2" charset="-122"/>
              <a:cs typeface="宋体" panose="02010600030101010101" pitchFamily="2" charset="-122"/>
            </a:endParaRPr>
          </a:p>
        </p:txBody>
      </p:sp>
      <p:sp>
        <p:nvSpPr>
          <p:cNvPr id="3" name="标题 1">
            <a:extLst>
              <a:ext uri="{FF2B5EF4-FFF2-40B4-BE49-F238E27FC236}">
                <a16:creationId xmlns:a16="http://schemas.microsoft.com/office/drawing/2014/main" id="{C6203668-D42D-18AD-F162-3AEFA0478B07}"/>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sp>
        <p:nvSpPr>
          <p:cNvPr id="15" name="圆角矩形 18">
            <a:extLst>
              <a:ext uri="{FF2B5EF4-FFF2-40B4-BE49-F238E27FC236}">
                <a16:creationId xmlns:a16="http://schemas.microsoft.com/office/drawing/2014/main" id="{F2F9F376-6791-A371-998B-AB8F2C34A99C}"/>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主体认定</a:t>
            </a:r>
          </a:p>
        </p:txBody>
      </p:sp>
      <p:grpSp>
        <p:nvGrpSpPr>
          <p:cNvPr id="16" name="组合 15">
            <a:extLst>
              <a:ext uri="{FF2B5EF4-FFF2-40B4-BE49-F238E27FC236}">
                <a16:creationId xmlns:a16="http://schemas.microsoft.com/office/drawing/2014/main" id="{B848A8C5-05A5-8CF8-1692-A17E232D7708}"/>
              </a:ext>
            </a:extLst>
          </p:cNvPr>
          <p:cNvGrpSpPr/>
          <p:nvPr/>
        </p:nvGrpSpPr>
        <p:grpSpPr>
          <a:xfrm>
            <a:off x="9625" y="741145"/>
            <a:ext cx="1046951" cy="6116855"/>
            <a:chOff x="9625" y="741145"/>
            <a:chExt cx="1046951" cy="6116855"/>
          </a:xfrm>
        </p:grpSpPr>
        <p:sp>
          <p:nvSpPr>
            <p:cNvPr id="17" name="矩形 16">
              <a:extLst>
                <a:ext uri="{FF2B5EF4-FFF2-40B4-BE49-F238E27FC236}">
                  <a16:creationId xmlns:a16="http://schemas.microsoft.com/office/drawing/2014/main" id="{05FE8709-D6AC-D3CD-553C-54D4EBABE693}"/>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0" name="矩形 19">
              <a:extLst>
                <a:ext uri="{FF2B5EF4-FFF2-40B4-BE49-F238E27FC236}">
                  <a16:creationId xmlns:a16="http://schemas.microsoft.com/office/drawing/2014/main" id="{274BA9B4-CFA0-0827-7C57-E2F8DCC27CB9}"/>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1" name="矩形 20">
              <a:extLst>
                <a:ext uri="{FF2B5EF4-FFF2-40B4-BE49-F238E27FC236}">
                  <a16:creationId xmlns:a16="http://schemas.microsoft.com/office/drawing/2014/main" id="{A3D545D6-A834-3975-0F3C-E6A3A8DC72FE}"/>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2" name="矩形 21">
              <a:extLst>
                <a:ext uri="{FF2B5EF4-FFF2-40B4-BE49-F238E27FC236}">
                  <a16:creationId xmlns:a16="http://schemas.microsoft.com/office/drawing/2014/main" id="{62B6542C-105B-4CEF-BA65-7F193588E116}"/>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3" name="矩形 22">
              <a:extLst>
                <a:ext uri="{FF2B5EF4-FFF2-40B4-BE49-F238E27FC236}">
                  <a16:creationId xmlns:a16="http://schemas.microsoft.com/office/drawing/2014/main" id="{E61E79C5-4D3E-8FF5-198D-8635E5A511F5}"/>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3169540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198293" y="1612562"/>
            <a:ext cx="7786681" cy="4279465"/>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spcBef>
                <a:spcPts val="150"/>
              </a:spcBef>
            </a:pP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此次对滴滴公司的网络安全审查相关行政处罚，</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与一般的行政处罚不同，具有特殊性</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。滴滴公司违法违规行为情节严重，结合网络安全审查情况，应当予以</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从严从重处罚</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一是从</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违法行为的性质</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看，滴滴公司未按照相关法律法规规定和监管部门要求，履行网络安全、数据安全、个人信息保护义务，置国家网络安全、数据安全于不顾，给国家网络安全、数据安全带来严重的风险隐患，且在监管部门责令改正情况下，仍未进行全面深入整改，性质极为恶劣。</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二是从</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违法行为的持续时间</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看，滴滴公司相关违法行为最早开始于</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2015</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6</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月，持续至今，时间长达</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7</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年，持续违反</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2017</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6</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月实施的</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网络安全法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2021</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9</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月实施的</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数据安全法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和</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2021</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年</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11</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月实施的</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个人信息保护法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p:txBody>
      </p:sp>
      <p:sp>
        <p:nvSpPr>
          <p:cNvPr id="3" name="标题 1">
            <a:extLst>
              <a:ext uri="{FF2B5EF4-FFF2-40B4-BE49-F238E27FC236}">
                <a16:creationId xmlns:a16="http://schemas.microsoft.com/office/drawing/2014/main" id="{886E3853-7A58-0849-8A75-C51B4F5DE4EF}"/>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sp>
        <p:nvSpPr>
          <p:cNvPr id="15" name="圆角矩形 18">
            <a:extLst>
              <a:ext uri="{FF2B5EF4-FFF2-40B4-BE49-F238E27FC236}">
                <a16:creationId xmlns:a16="http://schemas.microsoft.com/office/drawing/2014/main" id="{230AF692-F460-AA2D-F3C7-56845F7534B3}"/>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处罚依据</a:t>
            </a:r>
          </a:p>
        </p:txBody>
      </p:sp>
      <p:grpSp>
        <p:nvGrpSpPr>
          <p:cNvPr id="16" name="组合 15">
            <a:extLst>
              <a:ext uri="{FF2B5EF4-FFF2-40B4-BE49-F238E27FC236}">
                <a16:creationId xmlns:a16="http://schemas.microsoft.com/office/drawing/2014/main" id="{EDFB12B6-FFC0-87A6-0527-5D46C2E2F908}"/>
              </a:ext>
            </a:extLst>
          </p:cNvPr>
          <p:cNvGrpSpPr/>
          <p:nvPr/>
        </p:nvGrpSpPr>
        <p:grpSpPr>
          <a:xfrm>
            <a:off x="9625" y="741145"/>
            <a:ext cx="1046951" cy="6116855"/>
            <a:chOff x="9625" y="741145"/>
            <a:chExt cx="1046951" cy="6116855"/>
          </a:xfrm>
        </p:grpSpPr>
        <p:sp>
          <p:nvSpPr>
            <p:cNvPr id="17" name="矩形 16">
              <a:extLst>
                <a:ext uri="{FF2B5EF4-FFF2-40B4-BE49-F238E27FC236}">
                  <a16:creationId xmlns:a16="http://schemas.microsoft.com/office/drawing/2014/main" id="{FCE882E6-07F3-86B2-16AC-695F780F0AD0}"/>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0" name="矩形 19">
              <a:extLst>
                <a:ext uri="{FF2B5EF4-FFF2-40B4-BE49-F238E27FC236}">
                  <a16:creationId xmlns:a16="http://schemas.microsoft.com/office/drawing/2014/main" id="{F199261B-26BB-EA55-CE5E-7CB39E7ACF35}"/>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1" name="矩形 20">
              <a:extLst>
                <a:ext uri="{FF2B5EF4-FFF2-40B4-BE49-F238E27FC236}">
                  <a16:creationId xmlns:a16="http://schemas.microsoft.com/office/drawing/2014/main" id="{2B30F5AF-08AA-68E9-A134-ECE29225E90D}"/>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2" name="矩形 21">
              <a:extLst>
                <a:ext uri="{FF2B5EF4-FFF2-40B4-BE49-F238E27FC236}">
                  <a16:creationId xmlns:a16="http://schemas.microsoft.com/office/drawing/2014/main" id="{B5B86510-7888-7557-4CA1-38A3A975AD02}"/>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3" name="矩形 22">
              <a:extLst>
                <a:ext uri="{FF2B5EF4-FFF2-40B4-BE49-F238E27FC236}">
                  <a16:creationId xmlns:a16="http://schemas.microsoft.com/office/drawing/2014/main" id="{87A15F3B-B552-6238-1654-1FE397411739}"/>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74255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198293" y="1602937"/>
            <a:ext cx="7786681" cy="4279465"/>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spcBef>
                <a:spcPts val="150"/>
              </a:spcBef>
            </a:pP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三是从</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违法行为的危害</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看，滴滴公司通过违法手段收集用户剪切板信息、相册中的截图信息、亲情关系信息等个人信息，严重侵犯用户隐私，严重侵害用户个人信息权益。</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四是从</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违法处理个人信息的数量</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看，滴滴公司违法处理个人信息达</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647.09</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亿条，数量巨大，其中包括人脸识别信息、精准位置信息、身份证号等多类敏感个人信息。</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五是从</a:t>
            </a:r>
            <a:r>
              <a:rPr lang="zh-CN" altLang="en-US"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违法处理个人信息的情形</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看，滴滴公司违法行为涉及多个</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App</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，涵盖过度收集个人信息、强制收集敏感个人信息、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App</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频繁索权、未尽个人信息处理告知义务、未尽网络安全数据安全保护义务等多种情形。</a:t>
            </a:r>
          </a:p>
          <a:p>
            <a:pPr>
              <a:lnSpc>
                <a:spcPct val="150000"/>
              </a:lnSpc>
              <a:spcBef>
                <a:spcPts val="150"/>
              </a:spcBef>
            </a:pP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主要依据是</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网络安全法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数据安全法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个人信息保护法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行政处罚法</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r>
              <a:rPr lang="zh-CN" altLang="en-US" sz="1600" b="1" dirty="0">
                <a:solidFill>
                  <a:srgbClr val="333333"/>
                </a:solidFill>
                <a:latin typeface="宋体" panose="02010600030101010101" pitchFamily="2" charset="-122"/>
                <a:ea typeface="宋体" panose="02010600030101010101" pitchFamily="2" charset="-122"/>
                <a:cs typeface="宋体" panose="02010600030101010101" pitchFamily="2" charset="-122"/>
              </a:rPr>
              <a:t>等有关规定。</a:t>
            </a:r>
          </a:p>
        </p:txBody>
      </p:sp>
      <p:sp>
        <p:nvSpPr>
          <p:cNvPr id="3" name="标题 1">
            <a:extLst>
              <a:ext uri="{FF2B5EF4-FFF2-40B4-BE49-F238E27FC236}">
                <a16:creationId xmlns:a16="http://schemas.microsoft.com/office/drawing/2014/main" id="{57462C64-1FB6-2B38-A936-12B11092D0E2}"/>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sp>
        <p:nvSpPr>
          <p:cNvPr id="15" name="圆角矩形 18">
            <a:extLst>
              <a:ext uri="{FF2B5EF4-FFF2-40B4-BE49-F238E27FC236}">
                <a16:creationId xmlns:a16="http://schemas.microsoft.com/office/drawing/2014/main" id="{A06D1830-0351-3E10-58EC-4894C3C45913}"/>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处罚依据</a:t>
            </a:r>
          </a:p>
        </p:txBody>
      </p:sp>
      <p:grpSp>
        <p:nvGrpSpPr>
          <p:cNvPr id="16" name="组合 15">
            <a:extLst>
              <a:ext uri="{FF2B5EF4-FFF2-40B4-BE49-F238E27FC236}">
                <a16:creationId xmlns:a16="http://schemas.microsoft.com/office/drawing/2014/main" id="{C02A3469-9454-CF98-5F99-ED7A3CBDB193}"/>
              </a:ext>
            </a:extLst>
          </p:cNvPr>
          <p:cNvGrpSpPr/>
          <p:nvPr/>
        </p:nvGrpSpPr>
        <p:grpSpPr>
          <a:xfrm>
            <a:off x="9625" y="741145"/>
            <a:ext cx="1046951" cy="6116855"/>
            <a:chOff x="9625" y="741145"/>
            <a:chExt cx="1046951" cy="6116855"/>
          </a:xfrm>
        </p:grpSpPr>
        <p:sp>
          <p:nvSpPr>
            <p:cNvPr id="17" name="矩形 16">
              <a:extLst>
                <a:ext uri="{FF2B5EF4-FFF2-40B4-BE49-F238E27FC236}">
                  <a16:creationId xmlns:a16="http://schemas.microsoft.com/office/drawing/2014/main" id="{DC86D126-CE09-C301-ACDC-306F17F8C91C}"/>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0" name="矩形 19">
              <a:extLst>
                <a:ext uri="{FF2B5EF4-FFF2-40B4-BE49-F238E27FC236}">
                  <a16:creationId xmlns:a16="http://schemas.microsoft.com/office/drawing/2014/main" id="{E15DC9E7-B6D0-5E23-5E9C-7D87A825A16F}"/>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1" name="矩形 20">
              <a:extLst>
                <a:ext uri="{FF2B5EF4-FFF2-40B4-BE49-F238E27FC236}">
                  <a16:creationId xmlns:a16="http://schemas.microsoft.com/office/drawing/2014/main" id="{A21AFB64-985E-4BB5-E0C2-315A50C5EEDA}"/>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2" name="矩形 21">
              <a:extLst>
                <a:ext uri="{FF2B5EF4-FFF2-40B4-BE49-F238E27FC236}">
                  <a16:creationId xmlns:a16="http://schemas.microsoft.com/office/drawing/2014/main" id="{0E26A23E-1F04-8986-CB4A-3A1B10412B5F}"/>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3" name="矩形 22">
              <a:extLst>
                <a:ext uri="{FF2B5EF4-FFF2-40B4-BE49-F238E27FC236}">
                  <a16:creationId xmlns:a16="http://schemas.microsoft.com/office/drawing/2014/main" id="{43C77101-F07C-8E46-3840-BB21A5EA0C47}"/>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346110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198293" y="1602937"/>
            <a:ext cx="7786681" cy="3046065"/>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spcBef>
                <a:spcPts val="150"/>
              </a:spcBef>
            </a:pPr>
            <a:r>
              <a:rPr lang="zh-CN" altLang="en-US" sz="1500" b="1" dirty="0">
                <a:solidFill>
                  <a:srgbClr val="333333"/>
                </a:solidFill>
                <a:latin typeface="宋体" panose="02010600030101010101" pitchFamily="2" charset="-122"/>
                <a:ea typeface="宋体" panose="02010600030101010101" pitchFamily="2" charset="-122"/>
                <a:cs typeface="宋体" panose="02010600030101010101" pitchFamily="2" charset="-122"/>
              </a:rPr>
              <a:t>    </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2022年5月23日</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，滴滴召开了</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特别股东大会</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，就其美国存托凭证从纽约证券交易所</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自愿退市</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进行了投票，并获得了股东批准。</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2022年6月13日</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，滴滴的美国存托凭证从纽约证券交易所摘牌。自2022年6月以来，</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滴滴的ads已在OTC Pink以“DIDIY”的代码报价</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。滴滴在年报中表示，我们将继续探索符合公司和股东利益的适当措施，包括在遵守适用规则、法规、政策和指导的前提下，</a:t>
            </a:r>
            <a:r>
              <a:rPr lang="en-US" altLang="zh-CN" sz="1600" b="1" dirty="0">
                <a:solidFill>
                  <a:srgbClr val="333333"/>
                </a:solidFill>
                <a:highlight>
                  <a:srgbClr val="00FFFF"/>
                </a:highlight>
                <a:latin typeface="宋体" panose="02010600030101010101" pitchFamily="2" charset="-122"/>
                <a:ea typeface="宋体" panose="02010600030101010101" pitchFamily="2" charset="-122"/>
                <a:cs typeface="宋体" panose="02010600030101010101" pitchFamily="2" charset="-122"/>
              </a:rPr>
              <a:t>探索在另一家国际认可的交易所上市的可能性。</a:t>
            </a:r>
            <a:endPar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endParaRPr>
          </a:p>
        </p:txBody>
      </p:sp>
      <p:sp>
        <p:nvSpPr>
          <p:cNvPr id="3" name="标题 1">
            <a:extLst>
              <a:ext uri="{FF2B5EF4-FFF2-40B4-BE49-F238E27FC236}">
                <a16:creationId xmlns:a16="http://schemas.microsoft.com/office/drawing/2014/main" id="{A9D699B2-BFAB-3963-7202-9822A97AD265}"/>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sp>
        <p:nvSpPr>
          <p:cNvPr id="15" name="圆角矩形 18">
            <a:extLst>
              <a:ext uri="{FF2B5EF4-FFF2-40B4-BE49-F238E27FC236}">
                <a16:creationId xmlns:a16="http://schemas.microsoft.com/office/drawing/2014/main" id="{61040510-BCA7-EB7B-0464-C8D2D0BE4C0B}"/>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滴滴现状</a:t>
            </a:r>
          </a:p>
        </p:txBody>
      </p:sp>
      <p:grpSp>
        <p:nvGrpSpPr>
          <p:cNvPr id="16" name="组合 15">
            <a:extLst>
              <a:ext uri="{FF2B5EF4-FFF2-40B4-BE49-F238E27FC236}">
                <a16:creationId xmlns:a16="http://schemas.microsoft.com/office/drawing/2014/main" id="{926E5B77-2FC6-135E-4224-0B5D496CE1A0}"/>
              </a:ext>
            </a:extLst>
          </p:cNvPr>
          <p:cNvGrpSpPr/>
          <p:nvPr/>
        </p:nvGrpSpPr>
        <p:grpSpPr>
          <a:xfrm>
            <a:off x="9625" y="741145"/>
            <a:ext cx="1046951" cy="6116855"/>
            <a:chOff x="9625" y="741145"/>
            <a:chExt cx="1046951" cy="6116855"/>
          </a:xfrm>
        </p:grpSpPr>
        <p:sp>
          <p:nvSpPr>
            <p:cNvPr id="17" name="矩形 16">
              <a:extLst>
                <a:ext uri="{FF2B5EF4-FFF2-40B4-BE49-F238E27FC236}">
                  <a16:creationId xmlns:a16="http://schemas.microsoft.com/office/drawing/2014/main" id="{7A27F8AF-E853-CB4B-F2C4-D86E5B27CA4E}"/>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0" name="矩形 19">
              <a:extLst>
                <a:ext uri="{FF2B5EF4-FFF2-40B4-BE49-F238E27FC236}">
                  <a16:creationId xmlns:a16="http://schemas.microsoft.com/office/drawing/2014/main" id="{CA821784-DFAB-44B7-197C-5A26AA01499B}"/>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1" name="矩形 20">
              <a:extLst>
                <a:ext uri="{FF2B5EF4-FFF2-40B4-BE49-F238E27FC236}">
                  <a16:creationId xmlns:a16="http://schemas.microsoft.com/office/drawing/2014/main" id="{38F8CF6A-AE73-56BB-FEC6-5A7ADDE1CDC2}"/>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2" name="矩形 21">
              <a:extLst>
                <a:ext uri="{FF2B5EF4-FFF2-40B4-BE49-F238E27FC236}">
                  <a16:creationId xmlns:a16="http://schemas.microsoft.com/office/drawing/2014/main" id="{D6244953-96FD-403B-503A-2378D5BC678D}"/>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3" name="矩形 22">
              <a:extLst>
                <a:ext uri="{FF2B5EF4-FFF2-40B4-BE49-F238E27FC236}">
                  <a16:creationId xmlns:a16="http://schemas.microsoft.com/office/drawing/2014/main" id="{2F4FF380-B33C-26FA-2720-0BFDEC3D2224}"/>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105487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198293" y="1612561"/>
            <a:ext cx="7786681" cy="4797863"/>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spcBef>
                <a:spcPts val="150"/>
              </a:spcBef>
            </a:pPr>
            <a:r>
              <a:rPr lang="en-US" altLang="zh-CN" sz="1600" b="1" dirty="0" err="1">
                <a:solidFill>
                  <a:srgbClr val="333333"/>
                </a:solidFill>
                <a:latin typeface="宋体" panose="02010600030101010101" pitchFamily="2" charset="-122"/>
                <a:ea typeface="宋体" panose="02010600030101010101" pitchFamily="2" charset="-122"/>
                <a:cs typeface="宋体" panose="02010600030101010101" pitchFamily="2" charset="-122"/>
              </a:rPr>
              <a:t>滴滴在年报中表示，在过去的一年里，在监管部门的监督下，其采取了一系列整改措施，包括</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a:p>
            <a:pPr>
              <a:lnSpc>
                <a:spcPct val="150000"/>
              </a:lnSpc>
              <a:spcBef>
                <a:spcPts val="150"/>
              </a:spcBef>
            </a:pP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(一)</a:t>
            </a:r>
            <a:r>
              <a:rPr lang="en-US" altLang="zh-CN" sz="1600" b="1" dirty="0" err="1">
                <a:solidFill>
                  <a:srgbClr val="333333"/>
                </a:solidFill>
                <a:latin typeface="宋体" panose="02010600030101010101" pitchFamily="2" charset="-122"/>
                <a:ea typeface="宋体" panose="02010600030101010101" pitchFamily="2" charset="-122"/>
                <a:cs typeface="宋体" panose="02010600030101010101" pitchFamily="2" charset="-122"/>
              </a:rPr>
              <a:t>进一步完善网络安全、数据安全、个人数据和隐私保护的内部管理机制和程序</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a:p>
            <a:pPr>
              <a:lnSpc>
                <a:spcPct val="150000"/>
              </a:lnSpc>
              <a:spcBef>
                <a:spcPts val="150"/>
              </a:spcBef>
            </a:pP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(二)</a:t>
            </a:r>
            <a:r>
              <a:rPr lang="en-US" altLang="zh-CN" sz="1600" b="1" dirty="0" err="1">
                <a:solidFill>
                  <a:srgbClr val="333333"/>
                </a:solidFill>
                <a:latin typeface="宋体" panose="02010600030101010101" pitchFamily="2" charset="-122"/>
                <a:ea typeface="宋体" panose="02010600030101010101" pitchFamily="2" charset="-122"/>
                <a:cs typeface="宋体" panose="02010600030101010101" pitchFamily="2" charset="-122"/>
              </a:rPr>
              <a:t>向用户明确披露个人信息收集规则，包括收集和使用个人信息的目的、方式和范围</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a:p>
            <a:pPr>
              <a:lnSpc>
                <a:spcPct val="150000"/>
              </a:lnSpc>
              <a:spcBef>
                <a:spcPts val="150"/>
              </a:spcBef>
            </a:pP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(三)</a:t>
            </a:r>
            <a:r>
              <a:rPr lang="en-US" altLang="zh-CN" sz="1600" b="1" dirty="0" err="1">
                <a:solidFill>
                  <a:srgbClr val="333333"/>
                </a:solidFill>
                <a:latin typeface="宋体" panose="02010600030101010101" pitchFamily="2" charset="-122"/>
                <a:ea typeface="宋体" panose="02010600030101010101" pitchFamily="2" charset="-122"/>
                <a:cs typeface="宋体" panose="02010600030101010101" pitchFamily="2" charset="-122"/>
              </a:rPr>
              <a:t>对用户数据的授权、收集和使用范围进行自查自纠;根据法律法规合规进行必要的清理，确保用户个人信息和数据的处理合法合规</a:t>
            </a: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a:t>
            </a:r>
          </a:p>
          <a:p>
            <a:pPr>
              <a:lnSpc>
                <a:spcPct val="150000"/>
              </a:lnSpc>
              <a:spcBef>
                <a:spcPts val="150"/>
              </a:spcBef>
            </a:pPr>
            <a:r>
              <a:rPr lang="en-US" altLang="zh-CN" sz="1600" b="1" dirty="0">
                <a:solidFill>
                  <a:srgbClr val="333333"/>
                </a:solidFill>
                <a:latin typeface="宋体" panose="02010600030101010101" pitchFamily="2" charset="-122"/>
                <a:ea typeface="宋体" panose="02010600030101010101" pitchFamily="2" charset="-122"/>
                <a:cs typeface="宋体" panose="02010600030101010101" pitchFamily="2" charset="-122"/>
              </a:rPr>
              <a:t>    此外，滴滴制定了数据安全存储、算法透明和用户自由选择权的内部管理机制，以提高员工对这些问题的关注和意识。同时，还组织开展了信息网络安全、数据安全和存储、用户个人信息保护等方面的员工教育培训，增强了员工在信息网络安全和应用方面的守法意识。</a:t>
            </a:r>
          </a:p>
        </p:txBody>
      </p:sp>
      <p:sp>
        <p:nvSpPr>
          <p:cNvPr id="6" name="标题 1">
            <a:extLst>
              <a:ext uri="{FF2B5EF4-FFF2-40B4-BE49-F238E27FC236}">
                <a16:creationId xmlns:a16="http://schemas.microsoft.com/office/drawing/2014/main" id="{7E5AC0B4-283D-8131-1A6F-90F21543A161}"/>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sp>
        <p:nvSpPr>
          <p:cNvPr id="17" name="圆角矩形 18">
            <a:extLst>
              <a:ext uri="{FF2B5EF4-FFF2-40B4-BE49-F238E27FC236}">
                <a16:creationId xmlns:a16="http://schemas.microsoft.com/office/drawing/2014/main" id="{C9B0FE4D-2F3F-08DC-D5F6-D9C1915FA6E7}"/>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滴滴现状</a:t>
            </a:r>
          </a:p>
        </p:txBody>
      </p:sp>
      <p:grpSp>
        <p:nvGrpSpPr>
          <p:cNvPr id="20" name="组合 19">
            <a:extLst>
              <a:ext uri="{FF2B5EF4-FFF2-40B4-BE49-F238E27FC236}">
                <a16:creationId xmlns:a16="http://schemas.microsoft.com/office/drawing/2014/main" id="{45A43811-18AF-F555-9F58-E93D507C927D}"/>
              </a:ext>
            </a:extLst>
          </p:cNvPr>
          <p:cNvGrpSpPr/>
          <p:nvPr/>
        </p:nvGrpSpPr>
        <p:grpSpPr>
          <a:xfrm>
            <a:off x="9625" y="741145"/>
            <a:ext cx="1046951" cy="6116855"/>
            <a:chOff x="9625" y="741145"/>
            <a:chExt cx="1046951" cy="6116855"/>
          </a:xfrm>
        </p:grpSpPr>
        <p:sp>
          <p:nvSpPr>
            <p:cNvPr id="21" name="矩形 20">
              <a:extLst>
                <a:ext uri="{FF2B5EF4-FFF2-40B4-BE49-F238E27FC236}">
                  <a16:creationId xmlns:a16="http://schemas.microsoft.com/office/drawing/2014/main" id="{68D5E084-5538-1871-0F61-5D899DB08179}"/>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2" name="矩形 21">
              <a:extLst>
                <a:ext uri="{FF2B5EF4-FFF2-40B4-BE49-F238E27FC236}">
                  <a16:creationId xmlns:a16="http://schemas.microsoft.com/office/drawing/2014/main" id="{0E4B13CC-2A50-652B-AA8E-0203E6D901A1}"/>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3" name="矩形 22">
              <a:extLst>
                <a:ext uri="{FF2B5EF4-FFF2-40B4-BE49-F238E27FC236}">
                  <a16:creationId xmlns:a16="http://schemas.microsoft.com/office/drawing/2014/main" id="{34534290-C4BF-5E60-A9C6-1FFB3D28F5EE}"/>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4" name="矩形 23">
              <a:extLst>
                <a:ext uri="{FF2B5EF4-FFF2-40B4-BE49-F238E27FC236}">
                  <a16:creationId xmlns:a16="http://schemas.microsoft.com/office/drawing/2014/main" id="{45519194-F422-6B6A-EB80-6CC95F8A8C2B}"/>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5" name="矩形 24">
              <a:extLst>
                <a:ext uri="{FF2B5EF4-FFF2-40B4-BE49-F238E27FC236}">
                  <a16:creationId xmlns:a16="http://schemas.microsoft.com/office/drawing/2014/main" id="{F361BF5E-5783-A915-CFED-238C4FD410D6}"/>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172489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198293" y="1602937"/>
            <a:ext cx="7786681" cy="4279465"/>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lnSpc>
                <a:spcPct val="150000"/>
              </a:lnSpc>
            </a:pPr>
            <a:endParaRPr lang="en-US" altLang="zh-CN" sz="1500" b="1" dirty="0">
              <a:solidFill>
                <a:srgbClr val="333333"/>
              </a:solidFill>
              <a:latin typeface="宋体" panose="02010600030101010101" pitchFamily="2" charset="-122"/>
              <a:ea typeface="宋体" panose="02010600030101010101" pitchFamily="2" charset="-122"/>
            </a:endParaRPr>
          </a:p>
          <a:p>
            <a:pPr algn="just">
              <a:lnSpc>
                <a:spcPct val="150000"/>
              </a:lnSpc>
            </a:pPr>
            <a:r>
              <a:rPr lang="zh-CN" altLang="en-US" sz="1500" b="1" dirty="0">
                <a:solidFill>
                  <a:srgbClr val="333333"/>
                </a:solidFill>
                <a:latin typeface="宋体" panose="02010600030101010101" pitchFamily="2" charset="-122"/>
                <a:ea typeface="宋体" panose="02010600030101010101" pitchFamily="2" charset="-122"/>
              </a:rPr>
              <a:t>部分网民以下载注册特定软件后可领取小礼品为吸引，非法采集用户个人信息。                                    </a:t>
            </a:r>
            <a:endParaRPr lang="en-US" altLang="zh-CN" sz="1500" b="1" dirty="0">
              <a:solidFill>
                <a:srgbClr val="333333"/>
              </a:solidFill>
              <a:latin typeface="宋体" panose="02010600030101010101" pitchFamily="2" charset="-122"/>
              <a:ea typeface="宋体" panose="02010600030101010101" pitchFamily="2" charset="-122"/>
            </a:endParaRPr>
          </a:p>
          <a:p>
            <a:pPr algn="r">
              <a:lnSpc>
                <a:spcPct val="150000"/>
              </a:lnSpc>
            </a:pPr>
            <a:r>
              <a:rPr lang="en-US" altLang="zh-CN" sz="1500" b="1" dirty="0">
                <a:solidFill>
                  <a:srgbClr val="333333"/>
                </a:solidFill>
                <a:latin typeface="宋体" panose="02010600030101010101" pitchFamily="2" charset="-122"/>
                <a:ea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rPr>
              <a:t>个人信息保护法</a:t>
            </a:r>
            <a:r>
              <a:rPr lang="en-US" altLang="zh-CN" sz="1500" b="1" dirty="0">
                <a:solidFill>
                  <a:srgbClr val="333333"/>
                </a:solidFill>
                <a:latin typeface="宋体" panose="02010600030101010101" pitchFamily="2" charset="-122"/>
                <a:ea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rPr>
              <a:t>第六十六条</a:t>
            </a:r>
            <a:endParaRPr lang="en-US" altLang="zh-CN" sz="1500" b="1" dirty="0">
              <a:solidFill>
                <a:srgbClr val="333333"/>
              </a:solidFill>
              <a:latin typeface="宋体" panose="02010600030101010101" pitchFamily="2" charset="-122"/>
              <a:ea typeface="宋体" panose="02010600030101010101" pitchFamily="2" charset="-122"/>
            </a:endParaRPr>
          </a:p>
          <a:p>
            <a:pPr algn="just">
              <a:lnSpc>
                <a:spcPct val="150000"/>
              </a:lnSpc>
            </a:pPr>
            <a:r>
              <a:rPr lang="zh-CN" altLang="en-US" sz="1500" b="1" dirty="0">
                <a:solidFill>
                  <a:srgbClr val="333333"/>
                </a:solidFill>
                <a:latin typeface="宋体" panose="02010600030101010101" pitchFamily="2" charset="-122"/>
                <a:ea typeface="宋体" panose="02010600030101010101" pitchFamily="2" charset="-122"/>
              </a:rPr>
              <a:t>某公司非法通过另一单位内部人员购买企业数据，用于日常业务营销。</a:t>
            </a:r>
          </a:p>
          <a:p>
            <a:pPr algn="r">
              <a:lnSpc>
                <a:spcPct val="150000"/>
              </a:lnSpc>
            </a:pPr>
            <a:r>
              <a:rPr lang="zh-CN" altLang="en-US" sz="1500" b="1" dirty="0">
                <a:solidFill>
                  <a:srgbClr val="333333"/>
                </a:solidFill>
                <a:latin typeface="宋体" panose="02010600030101010101" pitchFamily="2" charset="-122"/>
                <a:ea typeface="宋体" panose="02010600030101010101" pitchFamily="2" charset="-122"/>
              </a:rPr>
              <a:t>       依据</a:t>
            </a:r>
            <a:r>
              <a:rPr lang="en-US" altLang="zh-CN" sz="1500" b="1" dirty="0">
                <a:solidFill>
                  <a:srgbClr val="333333"/>
                </a:solidFill>
                <a:latin typeface="宋体" panose="02010600030101010101" pitchFamily="2" charset="-122"/>
                <a:ea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rPr>
              <a:t>数据安全法</a:t>
            </a:r>
            <a:r>
              <a:rPr lang="en-US" altLang="zh-CN" sz="1500" b="1" dirty="0">
                <a:solidFill>
                  <a:srgbClr val="333333"/>
                </a:solidFill>
                <a:latin typeface="宋体" panose="02010600030101010101" pitchFamily="2" charset="-122"/>
                <a:ea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rPr>
              <a:t>第二十七条、四十五条对购买数据的两家公司予以警告处罚。</a:t>
            </a:r>
            <a:endParaRPr lang="en-US" altLang="zh-CN" sz="1500" b="1" dirty="0">
              <a:solidFill>
                <a:srgbClr val="333333"/>
              </a:solidFill>
              <a:latin typeface="宋体" panose="02010600030101010101" pitchFamily="2" charset="-122"/>
              <a:ea typeface="宋体" panose="02010600030101010101" pitchFamily="2" charset="-122"/>
            </a:endParaRPr>
          </a:p>
          <a:p>
            <a:pPr algn="just">
              <a:lnSpc>
                <a:spcPct val="150000"/>
              </a:lnSpc>
            </a:pPr>
            <a:endParaRPr lang="en-US" altLang="zh-CN" sz="1500" b="1" dirty="0">
              <a:solidFill>
                <a:srgbClr val="333333"/>
              </a:solidFill>
              <a:latin typeface="宋体" panose="02010600030101010101" pitchFamily="2" charset="-122"/>
              <a:ea typeface="宋体" panose="02010600030101010101" pitchFamily="2" charset="-122"/>
            </a:endParaRPr>
          </a:p>
          <a:p>
            <a:pPr algn="just">
              <a:lnSpc>
                <a:spcPct val="150000"/>
              </a:lnSpc>
            </a:pPr>
            <a:r>
              <a:rPr lang="en-US" altLang="zh-CN" sz="1500" b="1" dirty="0">
                <a:solidFill>
                  <a:srgbClr val="333333"/>
                </a:solidFill>
                <a:latin typeface="宋体" panose="02010600030101010101" pitchFamily="2" charset="-122"/>
                <a:ea typeface="宋体" panose="02010600030101010101" pitchFamily="2" charset="-122"/>
              </a:rPr>
              <a:t>某公司存在未落实网络安全等级保护制度、未配备网络安全防护措施，未对公司存储的90余万条用户信息采取加密或去标识化处理</a:t>
            </a:r>
            <a:r>
              <a:rPr lang="zh-CN" altLang="en-US" sz="1500" b="1" dirty="0">
                <a:solidFill>
                  <a:srgbClr val="333333"/>
                </a:solidFill>
                <a:latin typeface="宋体" panose="02010600030101010101" pitchFamily="2" charset="-122"/>
                <a:ea typeface="宋体" panose="02010600030101010101" pitchFamily="2" charset="-122"/>
              </a:rPr>
              <a:t>。</a:t>
            </a:r>
          </a:p>
          <a:p>
            <a:pPr algn="r">
              <a:lnSpc>
                <a:spcPct val="150000"/>
              </a:lnSpc>
            </a:pPr>
            <a:r>
              <a:rPr lang="zh-CN" altLang="en-US" sz="1500" b="1" dirty="0">
                <a:solidFill>
                  <a:srgbClr val="333333"/>
                </a:solidFill>
                <a:latin typeface="宋体" panose="02010600030101010101" pitchFamily="2" charset="-122"/>
                <a:ea typeface="宋体" panose="02010600030101010101" pitchFamily="2" charset="-122"/>
              </a:rPr>
              <a:t> </a:t>
            </a:r>
            <a:r>
              <a:rPr lang="en-US" altLang="zh-CN" sz="1500" b="1" dirty="0">
                <a:solidFill>
                  <a:srgbClr val="333333"/>
                </a:solidFill>
                <a:latin typeface="宋体" panose="02010600030101010101" pitchFamily="2" charset="-122"/>
                <a:ea typeface="宋体" panose="02010600030101010101" pitchFamily="2" charset="-122"/>
              </a:rPr>
              <a:t>                                         </a:t>
            </a:r>
            <a:r>
              <a:rPr lang="zh-CN" altLang="en-US" sz="1500" b="1" dirty="0">
                <a:solidFill>
                  <a:srgbClr val="333333"/>
                </a:solidFill>
                <a:latin typeface="宋体" panose="02010600030101010101" pitchFamily="2" charset="-122"/>
                <a:ea typeface="宋体" panose="02010600030101010101" pitchFamily="2" charset="-122"/>
              </a:rPr>
              <a:t>《网络安全法》第四十二条</a:t>
            </a:r>
            <a:endParaRPr lang="en-US" altLang="zh-CN" sz="1500" b="1" dirty="0">
              <a:solidFill>
                <a:srgbClr val="333333"/>
              </a:solidFill>
              <a:latin typeface="宋体" panose="02010600030101010101" pitchFamily="2" charset="-122"/>
              <a:ea typeface="宋体" panose="02010600030101010101" pitchFamily="2" charset="-122"/>
            </a:endParaRPr>
          </a:p>
          <a:p>
            <a:pPr algn="just">
              <a:lnSpc>
                <a:spcPct val="150000"/>
              </a:lnSpc>
            </a:pPr>
            <a:r>
              <a:rPr lang="zh-CN" altLang="en-US" sz="1500" b="1" dirty="0">
                <a:solidFill>
                  <a:srgbClr val="333333"/>
                </a:solidFill>
                <a:latin typeface="宋体" panose="02010600030101010101" pitchFamily="2" charset="-122"/>
                <a:ea typeface="宋体" panose="02010600030101010101" pitchFamily="2" charset="-122"/>
              </a:rPr>
              <a:t>部分网民以领取小礼品，诱骗辖区群众通过个人微信发送包含诈骗信息网络链接。                                                                         </a:t>
            </a:r>
            <a:endParaRPr lang="en-US" altLang="zh-CN" sz="1500" b="1" dirty="0">
              <a:solidFill>
                <a:srgbClr val="333333"/>
              </a:solidFill>
              <a:latin typeface="宋体" panose="02010600030101010101" pitchFamily="2" charset="-122"/>
              <a:ea typeface="宋体" panose="02010600030101010101" pitchFamily="2" charset="-122"/>
            </a:endParaRPr>
          </a:p>
          <a:p>
            <a:pPr algn="r">
              <a:lnSpc>
                <a:spcPct val="150000"/>
              </a:lnSpc>
            </a:pPr>
            <a:r>
              <a:rPr lang="en-US" altLang="zh-CN" sz="1500" b="1" dirty="0">
                <a:solidFill>
                  <a:srgbClr val="333333"/>
                </a:solidFill>
                <a:latin typeface="宋体" panose="02010600030101010101" pitchFamily="2" charset="-122"/>
                <a:ea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rPr>
              <a:t>网络安全法</a:t>
            </a:r>
            <a:r>
              <a:rPr lang="en-US" altLang="zh-CN" sz="1500" b="1" dirty="0">
                <a:solidFill>
                  <a:srgbClr val="333333"/>
                </a:solidFill>
                <a:latin typeface="宋体" panose="02010600030101010101" pitchFamily="2" charset="-122"/>
                <a:ea typeface="宋体" panose="02010600030101010101" pitchFamily="2" charset="-122"/>
              </a:rPr>
              <a:t>》</a:t>
            </a:r>
            <a:r>
              <a:rPr lang="zh-CN" altLang="en-US" sz="1500" b="1" dirty="0">
                <a:solidFill>
                  <a:srgbClr val="333333"/>
                </a:solidFill>
                <a:latin typeface="宋体" panose="02010600030101010101" pitchFamily="2" charset="-122"/>
                <a:ea typeface="宋体" panose="02010600030101010101" pitchFamily="2" charset="-122"/>
              </a:rPr>
              <a:t>第四十六条</a:t>
            </a:r>
          </a:p>
          <a:p>
            <a:pPr algn="just">
              <a:lnSpc>
                <a:spcPct val="150000"/>
              </a:lnSpc>
            </a:pPr>
            <a:endParaRPr lang="zh-CN" altLang="en-US" sz="1500" b="1" dirty="0">
              <a:solidFill>
                <a:srgbClr val="333333"/>
              </a:solidFill>
              <a:latin typeface="宋体" panose="02010600030101010101" pitchFamily="2" charset="-122"/>
              <a:ea typeface="宋体" panose="02010600030101010101" pitchFamily="2" charset="-122"/>
            </a:endParaRPr>
          </a:p>
        </p:txBody>
      </p:sp>
      <p:sp>
        <p:nvSpPr>
          <p:cNvPr id="3" name="标题 1">
            <a:extLst>
              <a:ext uri="{FF2B5EF4-FFF2-40B4-BE49-F238E27FC236}">
                <a16:creationId xmlns:a16="http://schemas.microsoft.com/office/drawing/2014/main" id="{CCD49858-8831-4D05-D397-451E2A724445}"/>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sp>
        <p:nvSpPr>
          <p:cNvPr id="16" name="圆角矩形 18">
            <a:extLst>
              <a:ext uri="{FF2B5EF4-FFF2-40B4-BE49-F238E27FC236}">
                <a16:creationId xmlns:a16="http://schemas.microsoft.com/office/drawing/2014/main" id="{587D5010-533B-9B85-6BDF-3383327141BC}"/>
              </a:ext>
            </a:extLst>
          </p:cNvPr>
          <p:cNvSpPr/>
          <p:nvPr/>
        </p:nvSpPr>
        <p:spPr>
          <a:xfrm>
            <a:off x="1118370" y="1354533"/>
            <a:ext cx="1826961"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违法行为举例</a:t>
            </a:r>
          </a:p>
        </p:txBody>
      </p:sp>
      <p:grpSp>
        <p:nvGrpSpPr>
          <p:cNvPr id="17" name="组合 16">
            <a:extLst>
              <a:ext uri="{FF2B5EF4-FFF2-40B4-BE49-F238E27FC236}">
                <a16:creationId xmlns:a16="http://schemas.microsoft.com/office/drawing/2014/main" id="{2C4AD0DE-AD72-79CE-FAFA-6022E5E674AA}"/>
              </a:ext>
            </a:extLst>
          </p:cNvPr>
          <p:cNvGrpSpPr/>
          <p:nvPr/>
        </p:nvGrpSpPr>
        <p:grpSpPr>
          <a:xfrm>
            <a:off x="9625" y="741145"/>
            <a:ext cx="1046951" cy="6116855"/>
            <a:chOff x="9625" y="741145"/>
            <a:chExt cx="1046951" cy="6116855"/>
          </a:xfrm>
        </p:grpSpPr>
        <p:sp>
          <p:nvSpPr>
            <p:cNvPr id="20" name="矩形 19">
              <a:extLst>
                <a:ext uri="{FF2B5EF4-FFF2-40B4-BE49-F238E27FC236}">
                  <a16:creationId xmlns:a16="http://schemas.microsoft.com/office/drawing/2014/main" id="{B5AA956B-67FB-2318-E731-E79D6D8424DA}"/>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1" name="矩形 20">
              <a:extLst>
                <a:ext uri="{FF2B5EF4-FFF2-40B4-BE49-F238E27FC236}">
                  <a16:creationId xmlns:a16="http://schemas.microsoft.com/office/drawing/2014/main" id="{E90209AB-68B8-B855-60F5-2D214C8E1F7D}"/>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2" name="矩形 21">
              <a:extLst>
                <a:ext uri="{FF2B5EF4-FFF2-40B4-BE49-F238E27FC236}">
                  <a16:creationId xmlns:a16="http://schemas.microsoft.com/office/drawing/2014/main" id="{C39B1CB4-C172-EA1A-D1BC-501729CCE697}"/>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3" name="矩形 22">
              <a:extLst>
                <a:ext uri="{FF2B5EF4-FFF2-40B4-BE49-F238E27FC236}">
                  <a16:creationId xmlns:a16="http://schemas.microsoft.com/office/drawing/2014/main" id="{28034269-7039-7F4B-CD43-AC276ABC7E03}"/>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4" name="矩形 23">
              <a:extLst>
                <a:ext uri="{FF2B5EF4-FFF2-40B4-BE49-F238E27FC236}">
                  <a16:creationId xmlns:a16="http://schemas.microsoft.com/office/drawing/2014/main" id="{F8546EAE-8E1C-5D6A-D8D7-A6A0306ABAB4}"/>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2876559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a:extLst>
              <a:ext uri="{FF2B5EF4-FFF2-40B4-BE49-F238E27FC236}">
                <a16:creationId xmlns:a16="http://schemas.microsoft.com/office/drawing/2014/main" id="{A214D164-219B-4B55-8FD2-00A9E96EF414}"/>
              </a:ext>
            </a:extLst>
          </p:cNvPr>
          <p:cNvSpPr/>
          <p:nvPr/>
        </p:nvSpPr>
        <p:spPr>
          <a:xfrm>
            <a:off x="1198293" y="1602938"/>
            <a:ext cx="7786681" cy="838329"/>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lnSpc>
                <a:spcPct val="150000"/>
              </a:lnSpc>
            </a:pPr>
            <a:r>
              <a:rPr lang="zh-CN" altLang="en-US"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调整关于数据处理活动的法律规范的总和。</a:t>
            </a:r>
            <a:endParaRPr lang="zh-CN" altLang="en-US" b="1" dirty="0">
              <a:solidFill>
                <a:srgbClr val="333333"/>
              </a:solidFill>
              <a:latin typeface="宋体" panose="02010600030101010101" pitchFamily="2" charset="-122"/>
              <a:ea typeface="宋体" panose="02010600030101010101" pitchFamily="2" charset="-122"/>
            </a:endParaRPr>
          </a:p>
        </p:txBody>
      </p:sp>
      <p:sp>
        <p:nvSpPr>
          <p:cNvPr id="19" name="圆角矩形 18">
            <a:extLst>
              <a:ext uri="{FF2B5EF4-FFF2-40B4-BE49-F238E27FC236}">
                <a16:creationId xmlns:a16="http://schemas.microsoft.com/office/drawing/2014/main" id="{830383E8-5CA7-6EFF-6B47-4877F7DEA209}"/>
              </a:ext>
            </a:extLst>
          </p:cNvPr>
          <p:cNvSpPr/>
          <p:nvPr/>
        </p:nvSpPr>
        <p:spPr>
          <a:xfrm>
            <a:off x="1118370" y="1354531"/>
            <a:ext cx="1605579" cy="3667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概   念  </a:t>
            </a:r>
          </a:p>
        </p:txBody>
      </p:sp>
      <p:sp>
        <p:nvSpPr>
          <p:cNvPr id="3" name="圆角矩形 17">
            <a:extLst>
              <a:ext uri="{FF2B5EF4-FFF2-40B4-BE49-F238E27FC236}">
                <a16:creationId xmlns:a16="http://schemas.microsoft.com/office/drawing/2014/main" id="{78917E8D-BF89-4ABA-572C-C59CED94D778}"/>
              </a:ext>
            </a:extLst>
          </p:cNvPr>
          <p:cNvSpPr/>
          <p:nvPr/>
        </p:nvSpPr>
        <p:spPr>
          <a:xfrm>
            <a:off x="1198293" y="2895098"/>
            <a:ext cx="7786681" cy="2453232"/>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eaLnBrk="0" hangingPunct="0">
              <a:lnSpc>
                <a:spcPct val="150000"/>
              </a:lnSpc>
              <a:spcBef>
                <a:spcPct val="50000"/>
              </a:spcBef>
            </a:pPr>
            <a:r>
              <a:rPr lang="zh-CN" altLang="en-US"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数据，是指任何以电子或者其他方式对信息的记录。</a:t>
            </a:r>
          </a:p>
          <a:p>
            <a:pPr eaLnBrk="0" hangingPunct="0">
              <a:lnSpc>
                <a:spcPct val="150000"/>
              </a:lnSpc>
              <a:spcBef>
                <a:spcPct val="50000"/>
              </a:spcBef>
            </a:pPr>
            <a:r>
              <a:rPr lang="zh-CN" altLang="en-US"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数据处理，包括数据的</a:t>
            </a:r>
            <a:r>
              <a:rPr lang="zh-CN" altLang="en-US" dirty="0">
                <a:ln>
                  <a:solidFill>
                    <a:schemeClr val="accent6"/>
                  </a:solidFill>
                </a:ln>
                <a:solidFill>
                  <a:schemeClr val="tx1"/>
                </a:solidFill>
                <a:effectLst>
                  <a:outerShdw blurRad="38100" dist="25400" dir="5400000" algn="ctr" rotWithShape="0">
                    <a:srgbClr val="6E747A">
                      <a:alpha val="43000"/>
                    </a:srgbClr>
                  </a:outerShdw>
                </a:effectLst>
                <a:highlight>
                  <a:srgbClr val="FFFF00"/>
                </a:highlight>
                <a:latin typeface="黑体" panose="02010609060101010101" charset="-122"/>
                <a:ea typeface="黑体" panose="02010609060101010101" charset="-122"/>
              </a:rPr>
              <a:t>收集、存储、使用、加工、传输、提供、公开等。</a:t>
            </a:r>
          </a:p>
          <a:p>
            <a:pPr eaLnBrk="0" hangingPunct="0">
              <a:lnSpc>
                <a:spcPct val="150000"/>
              </a:lnSpc>
              <a:spcBef>
                <a:spcPct val="50000"/>
              </a:spcBef>
            </a:pPr>
            <a:r>
              <a:rPr lang="zh-CN" altLang="en-US"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数据安全，是指通过采取必要措施，确保数据处于</a:t>
            </a:r>
            <a:r>
              <a:rPr lang="zh-CN" altLang="en-US" dirty="0">
                <a:ln>
                  <a:solidFill>
                    <a:schemeClr val="accent6"/>
                  </a:solidFill>
                </a:ln>
                <a:solidFill>
                  <a:schemeClr val="tx1"/>
                </a:solidFill>
                <a:effectLst>
                  <a:outerShdw blurRad="38100" dist="25400" dir="5400000" algn="ctr" rotWithShape="0">
                    <a:srgbClr val="6E747A">
                      <a:alpha val="43000"/>
                    </a:srgbClr>
                  </a:outerShdw>
                </a:effectLst>
                <a:highlight>
                  <a:srgbClr val="00FFFF"/>
                </a:highlight>
                <a:latin typeface="黑体" panose="02010609060101010101" charset="-122"/>
                <a:ea typeface="黑体" panose="02010609060101010101" charset="-122"/>
              </a:rPr>
              <a:t>有效保护和合法利用</a:t>
            </a:r>
            <a:r>
              <a:rPr lang="zh-CN" altLang="en-US"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的状态，以及具备</a:t>
            </a:r>
            <a:r>
              <a:rPr lang="zh-CN" altLang="en-US" dirty="0">
                <a:ln>
                  <a:solidFill>
                    <a:schemeClr val="accent6"/>
                  </a:solidFill>
                </a:ln>
                <a:solidFill>
                  <a:schemeClr val="tx1"/>
                </a:solidFill>
                <a:effectLst>
                  <a:outerShdw blurRad="38100" dist="25400" dir="5400000" algn="ctr" rotWithShape="0">
                    <a:srgbClr val="6E747A">
                      <a:alpha val="43000"/>
                    </a:srgbClr>
                  </a:outerShdw>
                </a:effectLst>
                <a:highlight>
                  <a:srgbClr val="FFFF00"/>
                </a:highlight>
                <a:latin typeface="黑体" panose="02010609060101010101" charset="-122"/>
                <a:ea typeface="黑体" panose="02010609060101010101" charset="-122"/>
              </a:rPr>
              <a:t>保障持续安全状态</a:t>
            </a:r>
            <a:r>
              <a:rPr lang="zh-CN" altLang="en-US"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的能力。</a:t>
            </a:r>
          </a:p>
        </p:txBody>
      </p:sp>
      <p:sp>
        <p:nvSpPr>
          <p:cNvPr id="4" name="标题 1">
            <a:extLst>
              <a:ext uri="{FF2B5EF4-FFF2-40B4-BE49-F238E27FC236}">
                <a16:creationId xmlns:a16="http://schemas.microsoft.com/office/drawing/2014/main" id="{8A4ABE1A-E0ED-CF1F-4F10-AAA0695F84BA}"/>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grpSp>
        <p:nvGrpSpPr>
          <p:cNvPr id="16" name="组合 15">
            <a:extLst>
              <a:ext uri="{FF2B5EF4-FFF2-40B4-BE49-F238E27FC236}">
                <a16:creationId xmlns:a16="http://schemas.microsoft.com/office/drawing/2014/main" id="{A5F38824-04EA-6822-75BD-139F34ECDA48}"/>
              </a:ext>
            </a:extLst>
          </p:cNvPr>
          <p:cNvGrpSpPr/>
          <p:nvPr/>
        </p:nvGrpSpPr>
        <p:grpSpPr>
          <a:xfrm>
            <a:off x="9625" y="741145"/>
            <a:ext cx="1046951" cy="6116855"/>
            <a:chOff x="9625" y="741145"/>
            <a:chExt cx="1046951" cy="6116855"/>
          </a:xfrm>
        </p:grpSpPr>
        <p:sp>
          <p:nvSpPr>
            <p:cNvPr id="17" name="矩形 16">
              <a:extLst>
                <a:ext uri="{FF2B5EF4-FFF2-40B4-BE49-F238E27FC236}">
                  <a16:creationId xmlns:a16="http://schemas.microsoft.com/office/drawing/2014/main" id="{84F67096-00A9-C7CF-12A7-AE340545A3CF}"/>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0" name="矩形 19">
              <a:extLst>
                <a:ext uri="{FF2B5EF4-FFF2-40B4-BE49-F238E27FC236}">
                  <a16:creationId xmlns:a16="http://schemas.microsoft.com/office/drawing/2014/main" id="{1F311AD9-8239-1845-4557-9A2AD31EE0C0}"/>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1" name="矩形 20">
              <a:extLst>
                <a:ext uri="{FF2B5EF4-FFF2-40B4-BE49-F238E27FC236}">
                  <a16:creationId xmlns:a16="http://schemas.microsoft.com/office/drawing/2014/main" id="{104ACED1-862B-34C0-1882-F43C65924F7E}"/>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2" name="矩形 21">
              <a:extLst>
                <a:ext uri="{FF2B5EF4-FFF2-40B4-BE49-F238E27FC236}">
                  <a16:creationId xmlns:a16="http://schemas.microsoft.com/office/drawing/2014/main" id="{1A670A00-0F39-C34A-E606-982E026C48DB}"/>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3" name="矩形 22">
              <a:extLst>
                <a:ext uri="{FF2B5EF4-FFF2-40B4-BE49-F238E27FC236}">
                  <a16:creationId xmlns:a16="http://schemas.microsoft.com/office/drawing/2014/main" id="{C1364F1A-27F2-36DF-919C-7DE3E01D98D1}"/>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234349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nimBg="1"/>
      <p:bldP spid="3" grpId="0" uiExpand="1"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a:extLst>
              <a:ext uri="{FF2B5EF4-FFF2-40B4-BE49-F238E27FC236}">
                <a16:creationId xmlns:a16="http://schemas.microsoft.com/office/drawing/2014/main" id="{830383E8-5CA7-6EFF-6B47-4877F7DEA209}"/>
              </a:ext>
            </a:extLst>
          </p:cNvPr>
          <p:cNvSpPr/>
          <p:nvPr/>
        </p:nvSpPr>
        <p:spPr>
          <a:xfrm>
            <a:off x="1118370" y="1354531"/>
            <a:ext cx="1769209" cy="3667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t>中国数据法</a:t>
            </a:r>
          </a:p>
        </p:txBody>
      </p:sp>
      <p:sp>
        <p:nvSpPr>
          <p:cNvPr id="3" name="圆角矩形 17">
            <a:extLst>
              <a:ext uri="{FF2B5EF4-FFF2-40B4-BE49-F238E27FC236}">
                <a16:creationId xmlns:a16="http://schemas.microsoft.com/office/drawing/2014/main" id="{78917E8D-BF89-4ABA-572C-C59CED94D778}"/>
              </a:ext>
            </a:extLst>
          </p:cNvPr>
          <p:cNvSpPr/>
          <p:nvPr/>
        </p:nvSpPr>
        <p:spPr>
          <a:xfrm>
            <a:off x="1198293" y="2010366"/>
            <a:ext cx="7786681" cy="3337964"/>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eaLnBrk="0" hangingPunct="0">
              <a:spcBef>
                <a:spcPct val="50000"/>
              </a:spcBef>
            </a:pPr>
            <a:r>
              <a:rPr lang="en-US" altLang="zh-CN"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a:t>
            </a:r>
            <a:r>
              <a:rPr lang="zh-CN" altLang="en-US"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《网络安全法》（2017年06月01日）</a:t>
            </a:r>
          </a:p>
          <a:p>
            <a:pPr eaLnBrk="0" hangingPunct="0">
              <a:spcBef>
                <a:spcPct val="50000"/>
              </a:spcBef>
            </a:pPr>
            <a:r>
              <a:rPr lang="en-US" altLang="zh-CN"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《数据安全法》（2021年9月1日）</a:t>
            </a:r>
          </a:p>
          <a:p>
            <a:pPr eaLnBrk="0" hangingPunct="0">
              <a:spcBef>
                <a:spcPct val="50000"/>
              </a:spcBef>
            </a:pPr>
            <a:r>
              <a:rPr lang="en-US" altLang="zh-CN"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a:t>
            </a:r>
            <a:r>
              <a:rPr lang="zh-CN" altLang="en-US"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《个人信息保护法》（ 2021年11月01日）</a:t>
            </a:r>
          </a:p>
          <a:p>
            <a:pPr eaLnBrk="0" hangingPunct="0">
              <a:spcBef>
                <a:spcPct val="50000"/>
              </a:spcBef>
            </a:pPr>
            <a:r>
              <a:rPr lang="en-US" altLang="zh-CN"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4-</a:t>
            </a:r>
            <a:r>
              <a:rPr lang="zh-CN" altLang="en-US"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《关键信息基础设施安全保护条例》（2021年09月01日）</a:t>
            </a:r>
          </a:p>
          <a:p>
            <a:pPr eaLnBrk="0" hangingPunct="0">
              <a:spcBef>
                <a:spcPct val="50000"/>
              </a:spcBef>
            </a:pPr>
            <a:r>
              <a:rPr lang="en-US" altLang="zh-CN"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5-</a:t>
            </a:r>
            <a:r>
              <a:rPr lang="zh-CN" altLang="en-US"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《网络安全审查办法》（2022年2月15日）</a:t>
            </a:r>
          </a:p>
          <a:p>
            <a:pPr eaLnBrk="0" hangingPunct="0">
              <a:spcBef>
                <a:spcPct val="50000"/>
              </a:spcBef>
            </a:pPr>
            <a:r>
              <a:rPr lang="en-US" altLang="zh-CN"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6-</a:t>
            </a:r>
            <a:r>
              <a:rPr lang="zh-CN" altLang="en-US" b="1" dirty="0">
                <a:ln>
                  <a:solidFill>
                    <a:schemeClr val="accent6"/>
                  </a:solidFill>
                </a:ln>
                <a:solidFill>
                  <a:schemeClr val="tx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《数据出境安全评估办法》（2022年09月01日）等</a:t>
            </a:r>
          </a:p>
        </p:txBody>
      </p:sp>
      <p:sp>
        <p:nvSpPr>
          <p:cNvPr id="4" name="标题 1">
            <a:extLst>
              <a:ext uri="{FF2B5EF4-FFF2-40B4-BE49-F238E27FC236}">
                <a16:creationId xmlns:a16="http://schemas.microsoft.com/office/drawing/2014/main" id="{9F81F332-5B60-18C5-D877-C486582BBA99}"/>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a:latin typeface="黑体" panose="02010609060101010101" pitchFamily="49" charset="-122"/>
                <a:ea typeface="宋体" panose="02010600030101010101" pitchFamily="2" charset="-122"/>
              </a:rPr>
              <a:t>10.1 </a:t>
            </a:r>
            <a:r>
              <a:rPr lang="zh-CN" altLang="en-US" sz="2400">
                <a:latin typeface="黑体" panose="02010609060101010101" pitchFamily="49" charset="-122"/>
                <a:ea typeface="宋体" panose="02010600030101010101" pitchFamily="2" charset="-122"/>
              </a:rPr>
              <a:t>概述</a:t>
            </a:r>
            <a:endParaRPr lang="zh-CN" altLang="en-US" sz="2400" dirty="0">
              <a:latin typeface="黑体" panose="02010609060101010101" pitchFamily="49" charset="-122"/>
              <a:ea typeface="宋体" panose="02010600030101010101" pitchFamily="2" charset="-122"/>
            </a:endParaRPr>
          </a:p>
        </p:txBody>
      </p:sp>
      <p:grpSp>
        <p:nvGrpSpPr>
          <p:cNvPr id="16" name="组合 15">
            <a:extLst>
              <a:ext uri="{FF2B5EF4-FFF2-40B4-BE49-F238E27FC236}">
                <a16:creationId xmlns:a16="http://schemas.microsoft.com/office/drawing/2014/main" id="{0B9EF905-5DFA-174F-50F3-D34F559F099F}"/>
              </a:ext>
            </a:extLst>
          </p:cNvPr>
          <p:cNvGrpSpPr/>
          <p:nvPr/>
        </p:nvGrpSpPr>
        <p:grpSpPr>
          <a:xfrm>
            <a:off x="9625" y="741145"/>
            <a:ext cx="1046951" cy="6116855"/>
            <a:chOff x="9625" y="741145"/>
            <a:chExt cx="1046951" cy="6116855"/>
          </a:xfrm>
        </p:grpSpPr>
        <p:sp>
          <p:nvSpPr>
            <p:cNvPr id="17" name="矩形 16">
              <a:extLst>
                <a:ext uri="{FF2B5EF4-FFF2-40B4-BE49-F238E27FC236}">
                  <a16:creationId xmlns:a16="http://schemas.microsoft.com/office/drawing/2014/main" id="{50D7EF49-60E2-A566-C0B8-F3287794ABFB}"/>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8" name="矩形 17">
              <a:extLst>
                <a:ext uri="{FF2B5EF4-FFF2-40B4-BE49-F238E27FC236}">
                  <a16:creationId xmlns:a16="http://schemas.microsoft.com/office/drawing/2014/main" id="{6A0CED95-E67A-031A-11E2-286262FD2027}"/>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20" name="矩形 19">
              <a:extLst>
                <a:ext uri="{FF2B5EF4-FFF2-40B4-BE49-F238E27FC236}">
                  <a16:creationId xmlns:a16="http://schemas.microsoft.com/office/drawing/2014/main" id="{1E62372A-6F11-91F3-119B-46C4A6D84876}"/>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21" name="矩形 20">
              <a:extLst>
                <a:ext uri="{FF2B5EF4-FFF2-40B4-BE49-F238E27FC236}">
                  <a16:creationId xmlns:a16="http://schemas.microsoft.com/office/drawing/2014/main" id="{A31E5A6F-27A9-6420-7953-9D53C17F2DBB}"/>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22" name="矩形 21">
              <a:extLst>
                <a:ext uri="{FF2B5EF4-FFF2-40B4-BE49-F238E27FC236}">
                  <a16:creationId xmlns:a16="http://schemas.microsoft.com/office/drawing/2014/main" id="{101272F7-26F9-78F4-A5E7-669409622857}"/>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FF0000"/>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3133799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7">
            <a:extLst>
              <a:ext uri="{FF2B5EF4-FFF2-40B4-BE49-F238E27FC236}">
                <a16:creationId xmlns:a16="http://schemas.microsoft.com/office/drawing/2014/main" id="{78917E8D-BF89-4ABA-572C-C59CED94D778}"/>
              </a:ext>
            </a:extLst>
          </p:cNvPr>
          <p:cNvSpPr/>
          <p:nvPr/>
        </p:nvSpPr>
        <p:spPr>
          <a:xfrm>
            <a:off x="1204362" y="1587529"/>
            <a:ext cx="7786681" cy="3666635"/>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pPr>
            <a:r>
              <a:rPr lang="zh-CN" altLang="en-US" b="1" dirty="0">
                <a:solidFill>
                  <a:schemeClr val="tx1"/>
                </a:solidFill>
                <a:latin typeface="宋体" panose="02010600030101010101" pitchFamily="2" charset="-122"/>
                <a:ea typeface="宋体" panose="02010600030101010101" pitchFamily="2" charset="-122"/>
              </a:rPr>
              <a:t>调整保障网络安全的法律规范的总称。</a:t>
            </a:r>
            <a:endParaRPr lang="en-US" altLang="zh-CN" b="1" dirty="0">
              <a:solidFill>
                <a:schemeClr val="tx1"/>
              </a:solidFill>
              <a:latin typeface="宋体" panose="02010600030101010101" pitchFamily="2" charset="-122"/>
              <a:ea typeface="宋体" panose="02010600030101010101" pitchFamily="2" charset="-122"/>
            </a:endParaRPr>
          </a:p>
          <a:p>
            <a:pPr>
              <a:lnSpc>
                <a:spcPct val="150000"/>
              </a:lnSpc>
            </a:pPr>
            <a:endParaRPr lang="en-US" altLang="zh-CN" b="1" dirty="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rPr>
              <a:t>立法宗旨</a:t>
            </a:r>
            <a:endParaRPr lang="en-US" altLang="zh-CN" b="1" dirty="0">
              <a:solidFill>
                <a:schemeClr val="tx1"/>
              </a:solidFill>
              <a:latin typeface="宋体" panose="02010600030101010101" pitchFamily="2" charset="-122"/>
              <a:ea typeface="宋体" panose="02010600030101010101" pitchFamily="2" charset="-122"/>
            </a:endParaRPr>
          </a:p>
          <a:p>
            <a:pPr>
              <a:lnSpc>
                <a:spcPct val="150000"/>
              </a:lnSpc>
            </a:pPr>
            <a:r>
              <a:rPr lang="zh-CN" altLang="en-US" b="1" dirty="0">
                <a:solidFill>
                  <a:schemeClr val="tx1"/>
                </a:solidFill>
                <a:latin typeface="宋体" panose="02010600030101010101" pitchFamily="2" charset="-122"/>
                <a:ea typeface="宋体" panose="02010600030101010101" pitchFamily="2" charset="-122"/>
              </a:rPr>
              <a:t>为了保障网络安全，维护</a:t>
            </a:r>
            <a:r>
              <a:rPr lang="zh-CN" altLang="en-US" b="1" dirty="0">
                <a:solidFill>
                  <a:schemeClr val="tx1"/>
                </a:solidFill>
                <a:highlight>
                  <a:srgbClr val="FFFF00"/>
                </a:highlight>
                <a:latin typeface="宋体" panose="02010600030101010101" pitchFamily="2" charset="-122"/>
                <a:ea typeface="宋体" panose="02010600030101010101" pitchFamily="2" charset="-122"/>
              </a:rPr>
              <a:t>网络空间主权</a:t>
            </a:r>
            <a:r>
              <a:rPr lang="zh-CN" altLang="en-US" b="1" dirty="0">
                <a:solidFill>
                  <a:schemeClr val="tx1"/>
                </a:solidFill>
                <a:latin typeface="宋体" panose="02010600030101010101" pitchFamily="2" charset="-122"/>
                <a:ea typeface="宋体" panose="02010600030101010101" pitchFamily="2" charset="-122"/>
              </a:rPr>
              <a:t>和国家安全、社会公共利益，保护公民、法人和其他组织的合法权益，促进</a:t>
            </a:r>
            <a:r>
              <a:rPr lang="zh-CN" altLang="en-US" b="1" dirty="0">
                <a:solidFill>
                  <a:schemeClr val="tx1"/>
                </a:solidFill>
                <a:highlight>
                  <a:srgbClr val="FFFF00"/>
                </a:highlight>
                <a:latin typeface="宋体" panose="02010600030101010101" pitchFamily="2" charset="-122"/>
                <a:ea typeface="宋体" panose="02010600030101010101" pitchFamily="2" charset="-122"/>
              </a:rPr>
              <a:t>经济社会信息化健康发展</a:t>
            </a:r>
            <a:r>
              <a:rPr lang="zh-CN" altLang="en-US" b="1" dirty="0">
                <a:solidFill>
                  <a:schemeClr val="tx1"/>
                </a:solidFill>
                <a:latin typeface="宋体" panose="02010600030101010101" pitchFamily="2" charset="-122"/>
                <a:ea typeface="宋体" panose="02010600030101010101" pitchFamily="2" charset="-122"/>
              </a:rPr>
              <a:t>。</a:t>
            </a:r>
            <a:endParaRPr lang="zh-CN" altLang="en-US" dirty="0">
              <a:solidFill>
                <a:schemeClr val="tx1"/>
              </a:solidFill>
              <a:latin typeface="宋体" panose="02010600030101010101" pitchFamily="2" charset="-122"/>
              <a:ea typeface="宋体" panose="02010600030101010101" pitchFamily="2" charset="-122"/>
            </a:endParaRPr>
          </a:p>
        </p:txBody>
      </p:sp>
      <p:sp>
        <p:nvSpPr>
          <p:cNvPr id="19" name="圆角矩形 18">
            <a:extLst>
              <a:ext uri="{FF2B5EF4-FFF2-40B4-BE49-F238E27FC236}">
                <a16:creationId xmlns:a16="http://schemas.microsoft.com/office/drawing/2014/main" id="{830383E8-5CA7-6EFF-6B47-4877F7DEA209}"/>
              </a:ext>
            </a:extLst>
          </p:cNvPr>
          <p:cNvSpPr/>
          <p:nvPr/>
        </p:nvSpPr>
        <p:spPr>
          <a:xfrm>
            <a:off x="1118370" y="1260909"/>
            <a:ext cx="2211971" cy="4603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网络安全法</a:t>
            </a:r>
          </a:p>
        </p:txBody>
      </p:sp>
      <p:sp>
        <p:nvSpPr>
          <p:cNvPr id="10" name="标题 1">
            <a:extLst>
              <a:ext uri="{FF2B5EF4-FFF2-40B4-BE49-F238E27FC236}">
                <a16:creationId xmlns:a16="http://schemas.microsoft.com/office/drawing/2014/main" id="{23C51710-C7C0-A548-B25C-BD02DC1D7045}"/>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latin typeface="黑体" panose="02010609060101010101" pitchFamily="49" charset="-122"/>
                <a:ea typeface="宋体" panose="02010600030101010101" pitchFamily="2" charset="-122"/>
              </a:rPr>
              <a:t>10.2 </a:t>
            </a:r>
            <a:r>
              <a:rPr lang="zh-CN" altLang="en-US" sz="2400" dirty="0">
                <a:latin typeface="黑体" panose="02010609060101010101" pitchFamily="49" charset="-122"/>
                <a:ea typeface="宋体" panose="02010600030101010101" pitchFamily="2" charset="-122"/>
              </a:rPr>
              <a:t>网络安全法</a:t>
            </a:r>
          </a:p>
        </p:txBody>
      </p:sp>
      <p:grpSp>
        <p:nvGrpSpPr>
          <p:cNvPr id="13" name="组合 12">
            <a:extLst>
              <a:ext uri="{FF2B5EF4-FFF2-40B4-BE49-F238E27FC236}">
                <a16:creationId xmlns:a16="http://schemas.microsoft.com/office/drawing/2014/main" id="{F99F01D6-FD2E-9527-241B-981414DF6E41}"/>
              </a:ext>
            </a:extLst>
          </p:cNvPr>
          <p:cNvGrpSpPr/>
          <p:nvPr/>
        </p:nvGrpSpPr>
        <p:grpSpPr>
          <a:xfrm>
            <a:off x="9625" y="741145"/>
            <a:ext cx="1046951" cy="6116855"/>
            <a:chOff x="9625" y="741145"/>
            <a:chExt cx="1046951" cy="6116855"/>
          </a:xfrm>
        </p:grpSpPr>
        <p:sp>
          <p:nvSpPr>
            <p:cNvPr id="14" name="矩形 13">
              <a:extLst>
                <a:ext uri="{FF2B5EF4-FFF2-40B4-BE49-F238E27FC236}">
                  <a16:creationId xmlns:a16="http://schemas.microsoft.com/office/drawing/2014/main" id="{2BFB6D03-B9B1-73B0-2744-EFF1C4CCA970}"/>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5" name="矩形 14">
              <a:extLst>
                <a:ext uri="{FF2B5EF4-FFF2-40B4-BE49-F238E27FC236}">
                  <a16:creationId xmlns:a16="http://schemas.microsoft.com/office/drawing/2014/main" id="{1ED4F3A5-F12A-BDCC-7FDA-85D2788E0C9A}"/>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C00000"/>
                  </a:solidFill>
                  <a:latin typeface="SimHei" panose="02010609060101010101" pitchFamily="49" charset="-122"/>
                  <a:ea typeface="SimHei" panose="02010609060101010101" pitchFamily="49" charset="-122"/>
                </a:rPr>
                <a:t>网络安全法</a:t>
              </a:r>
            </a:p>
          </p:txBody>
        </p:sp>
        <p:sp>
          <p:nvSpPr>
            <p:cNvPr id="16" name="矩形 15">
              <a:extLst>
                <a:ext uri="{FF2B5EF4-FFF2-40B4-BE49-F238E27FC236}">
                  <a16:creationId xmlns:a16="http://schemas.microsoft.com/office/drawing/2014/main" id="{A5F75BF0-AE7B-678E-35F9-AF5353B7D438}"/>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17" name="矩形 16">
              <a:extLst>
                <a:ext uri="{FF2B5EF4-FFF2-40B4-BE49-F238E27FC236}">
                  <a16:creationId xmlns:a16="http://schemas.microsoft.com/office/drawing/2014/main" id="{C87794A8-8786-AB8F-5067-73F90F0627A8}"/>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18" name="矩形 17">
              <a:extLst>
                <a:ext uri="{FF2B5EF4-FFF2-40B4-BE49-F238E27FC236}">
                  <a16:creationId xmlns:a16="http://schemas.microsoft.com/office/drawing/2014/main" id="{958523DE-894B-B76D-095D-09374D81FAF1}"/>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365127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7">
            <a:extLst>
              <a:ext uri="{FF2B5EF4-FFF2-40B4-BE49-F238E27FC236}">
                <a16:creationId xmlns:a16="http://schemas.microsoft.com/office/drawing/2014/main" id="{78917E8D-BF89-4ABA-572C-C59CED94D778}"/>
              </a:ext>
            </a:extLst>
          </p:cNvPr>
          <p:cNvSpPr/>
          <p:nvPr/>
        </p:nvSpPr>
        <p:spPr>
          <a:xfrm>
            <a:off x="1204362" y="1645279"/>
            <a:ext cx="7786681" cy="4091267"/>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pPr>
            <a:r>
              <a:rPr lang="zh-CN" altLang="en-US" b="1" dirty="0">
                <a:solidFill>
                  <a:schemeClr val="tx1"/>
                </a:solidFill>
              </a:rPr>
              <a:t>第一章　总　则	</a:t>
            </a:r>
          </a:p>
          <a:p>
            <a:pPr>
              <a:lnSpc>
                <a:spcPct val="150000"/>
              </a:lnSpc>
            </a:pPr>
            <a:r>
              <a:rPr lang="zh-CN" altLang="en-US" b="1" dirty="0">
                <a:solidFill>
                  <a:schemeClr val="tx1"/>
                </a:solidFill>
              </a:rPr>
              <a:t>第二章　网络安全支持与促进	</a:t>
            </a:r>
          </a:p>
          <a:p>
            <a:pPr>
              <a:lnSpc>
                <a:spcPct val="150000"/>
              </a:lnSpc>
            </a:pPr>
            <a:r>
              <a:rPr lang="zh-CN" altLang="en-US" b="1" dirty="0">
                <a:solidFill>
                  <a:schemeClr val="tx1"/>
                </a:solidFill>
              </a:rPr>
              <a:t>第三章　</a:t>
            </a:r>
            <a:r>
              <a:rPr lang="zh-CN" altLang="en-US" b="1" dirty="0">
                <a:solidFill>
                  <a:schemeClr val="tx1"/>
                </a:solidFill>
                <a:highlight>
                  <a:srgbClr val="FFFF00"/>
                </a:highlight>
              </a:rPr>
              <a:t>网络运行安全</a:t>
            </a:r>
            <a:r>
              <a:rPr lang="zh-CN" altLang="en-US" b="1" dirty="0">
                <a:solidFill>
                  <a:schemeClr val="tx1"/>
                </a:solidFill>
              </a:rPr>
              <a:t>	</a:t>
            </a:r>
          </a:p>
          <a:p>
            <a:pPr>
              <a:lnSpc>
                <a:spcPct val="150000"/>
              </a:lnSpc>
            </a:pPr>
            <a:r>
              <a:rPr lang="zh-CN" altLang="en-US" b="1" dirty="0">
                <a:solidFill>
                  <a:schemeClr val="tx1"/>
                </a:solidFill>
              </a:rPr>
              <a:t>      第一节　</a:t>
            </a:r>
            <a:r>
              <a:rPr lang="zh-CN" altLang="en-US" b="1" dirty="0">
                <a:solidFill>
                  <a:schemeClr val="tx1"/>
                </a:solidFill>
                <a:highlight>
                  <a:srgbClr val="FFFF00"/>
                </a:highlight>
              </a:rPr>
              <a:t>一般规定	</a:t>
            </a:r>
          </a:p>
          <a:p>
            <a:pPr>
              <a:lnSpc>
                <a:spcPct val="150000"/>
              </a:lnSpc>
            </a:pPr>
            <a:r>
              <a:rPr lang="zh-CN" altLang="en-US" b="1" dirty="0">
                <a:solidFill>
                  <a:schemeClr val="tx1"/>
                </a:solidFill>
              </a:rPr>
              <a:t>      第二节　</a:t>
            </a:r>
            <a:r>
              <a:rPr lang="zh-CN" altLang="en-US" b="1" dirty="0">
                <a:solidFill>
                  <a:schemeClr val="tx1"/>
                </a:solidFill>
                <a:highlight>
                  <a:srgbClr val="FFFF00"/>
                </a:highlight>
              </a:rPr>
              <a:t>关键信息基础设施</a:t>
            </a:r>
            <a:r>
              <a:rPr lang="zh-CN" altLang="en-US" b="1" dirty="0">
                <a:solidFill>
                  <a:schemeClr val="tx1"/>
                </a:solidFill>
              </a:rPr>
              <a:t>的运行安全	</a:t>
            </a:r>
          </a:p>
          <a:p>
            <a:pPr>
              <a:lnSpc>
                <a:spcPct val="150000"/>
              </a:lnSpc>
            </a:pPr>
            <a:r>
              <a:rPr lang="zh-CN" altLang="en-US" b="1" dirty="0">
                <a:solidFill>
                  <a:schemeClr val="tx1"/>
                </a:solidFill>
              </a:rPr>
              <a:t>第四章　</a:t>
            </a:r>
            <a:r>
              <a:rPr lang="zh-CN" altLang="en-US" b="1" dirty="0">
                <a:solidFill>
                  <a:schemeClr val="tx1"/>
                </a:solidFill>
                <a:highlight>
                  <a:srgbClr val="FFFF00"/>
                </a:highlight>
              </a:rPr>
              <a:t>网络信息安全	</a:t>
            </a:r>
            <a:endParaRPr lang="zh-CN" altLang="en-US" b="1" dirty="0">
              <a:solidFill>
                <a:schemeClr val="tx1"/>
              </a:solidFill>
            </a:endParaRPr>
          </a:p>
          <a:p>
            <a:pPr>
              <a:lnSpc>
                <a:spcPct val="150000"/>
              </a:lnSpc>
            </a:pPr>
            <a:r>
              <a:rPr lang="zh-CN" altLang="en-US" b="1" dirty="0">
                <a:solidFill>
                  <a:schemeClr val="tx1"/>
                </a:solidFill>
              </a:rPr>
              <a:t>第五章　</a:t>
            </a:r>
            <a:r>
              <a:rPr lang="zh-CN" altLang="en-US" b="1" dirty="0">
                <a:solidFill>
                  <a:schemeClr val="tx1"/>
                </a:solidFill>
                <a:highlight>
                  <a:srgbClr val="FFFF00"/>
                </a:highlight>
              </a:rPr>
              <a:t>监测预警与应急处置</a:t>
            </a:r>
            <a:r>
              <a:rPr lang="zh-CN" altLang="en-US" b="1" dirty="0">
                <a:solidFill>
                  <a:schemeClr val="tx1"/>
                </a:solidFill>
              </a:rPr>
              <a:t>	</a:t>
            </a:r>
          </a:p>
          <a:p>
            <a:pPr>
              <a:lnSpc>
                <a:spcPct val="150000"/>
              </a:lnSpc>
            </a:pPr>
            <a:r>
              <a:rPr lang="zh-CN" altLang="en-US" b="1" dirty="0">
                <a:solidFill>
                  <a:schemeClr val="tx1"/>
                </a:solidFill>
              </a:rPr>
              <a:t>第六章　法律责任	</a:t>
            </a:r>
          </a:p>
          <a:p>
            <a:pPr>
              <a:lnSpc>
                <a:spcPct val="150000"/>
              </a:lnSpc>
            </a:pPr>
            <a:r>
              <a:rPr lang="zh-CN" altLang="en-US" b="1" dirty="0">
                <a:solidFill>
                  <a:schemeClr val="tx1"/>
                </a:solidFill>
              </a:rPr>
              <a:t>第七章　附　则	</a:t>
            </a:r>
          </a:p>
        </p:txBody>
      </p:sp>
      <p:sp>
        <p:nvSpPr>
          <p:cNvPr id="6" name="标题 1">
            <a:extLst>
              <a:ext uri="{FF2B5EF4-FFF2-40B4-BE49-F238E27FC236}">
                <a16:creationId xmlns:a16="http://schemas.microsoft.com/office/drawing/2014/main" id="{5FE40293-30AC-26F1-0F18-0D1ACBDAB3F9}"/>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latin typeface="黑体" panose="02010609060101010101" pitchFamily="49" charset="-122"/>
                <a:ea typeface="宋体" panose="02010600030101010101" pitchFamily="2" charset="-122"/>
              </a:rPr>
              <a:t>10.2 </a:t>
            </a:r>
            <a:r>
              <a:rPr lang="zh-CN" altLang="en-US" sz="2400" dirty="0">
                <a:latin typeface="黑体" panose="02010609060101010101" pitchFamily="49" charset="-122"/>
                <a:ea typeface="宋体" panose="02010600030101010101" pitchFamily="2" charset="-122"/>
              </a:rPr>
              <a:t>网络安全法</a:t>
            </a:r>
          </a:p>
        </p:txBody>
      </p:sp>
      <p:grpSp>
        <p:nvGrpSpPr>
          <p:cNvPr id="10" name="组合 9">
            <a:extLst>
              <a:ext uri="{FF2B5EF4-FFF2-40B4-BE49-F238E27FC236}">
                <a16:creationId xmlns:a16="http://schemas.microsoft.com/office/drawing/2014/main" id="{778DFA1B-056C-D1E2-9868-13754178BDDC}"/>
              </a:ext>
            </a:extLst>
          </p:cNvPr>
          <p:cNvGrpSpPr/>
          <p:nvPr/>
        </p:nvGrpSpPr>
        <p:grpSpPr>
          <a:xfrm>
            <a:off x="9625" y="741145"/>
            <a:ext cx="1046951" cy="6116855"/>
            <a:chOff x="9625" y="741145"/>
            <a:chExt cx="1046951" cy="6116855"/>
          </a:xfrm>
        </p:grpSpPr>
        <p:sp>
          <p:nvSpPr>
            <p:cNvPr id="13" name="矩形 12">
              <a:extLst>
                <a:ext uri="{FF2B5EF4-FFF2-40B4-BE49-F238E27FC236}">
                  <a16:creationId xmlns:a16="http://schemas.microsoft.com/office/drawing/2014/main" id="{E2BA6FEB-F82B-C362-C4FA-EF2EDF6AF44F}"/>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4" name="矩形 13">
              <a:extLst>
                <a:ext uri="{FF2B5EF4-FFF2-40B4-BE49-F238E27FC236}">
                  <a16:creationId xmlns:a16="http://schemas.microsoft.com/office/drawing/2014/main" id="{A9737791-A7AB-EC6B-E267-7D7C47E0CD1F}"/>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C00000"/>
                  </a:solidFill>
                  <a:latin typeface="SimHei" panose="02010609060101010101" pitchFamily="49" charset="-122"/>
                  <a:ea typeface="SimHei" panose="02010609060101010101" pitchFamily="49" charset="-122"/>
                </a:rPr>
                <a:t>网络安全法</a:t>
              </a:r>
            </a:p>
          </p:txBody>
        </p:sp>
        <p:sp>
          <p:nvSpPr>
            <p:cNvPr id="15" name="矩形 14">
              <a:extLst>
                <a:ext uri="{FF2B5EF4-FFF2-40B4-BE49-F238E27FC236}">
                  <a16:creationId xmlns:a16="http://schemas.microsoft.com/office/drawing/2014/main" id="{C4480422-8066-E45D-1B0A-64115E6A078C}"/>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16" name="矩形 15">
              <a:extLst>
                <a:ext uri="{FF2B5EF4-FFF2-40B4-BE49-F238E27FC236}">
                  <a16:creationId xmlns:a16="http://schemas.microsoft.com/office/drawing/2014/main" id="{B3DC3B4F-F0D0-B9BB-9ED6-9A498F19F64B}"/>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17" name="矩形 16">
              <a:extLst>
                <a:ext uri="{FF2B5EF4-FFF2-40B4-BE49-F238E27FC236}">
                  <a16:creationId xmlns:a16="http://schemas.microsoft.com/office/drawing/2014/main" id="{5035683C-70EA-3E97-B8C4-FB1BFC16375E}"/>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概  述</a:t>
              </a:r>
            </a:p>
          </p:txBody>
        </p:sp>
      </p:grpSp>
      <p:sp>
        <p:nvSpPr>
          <p:cNvPr id="18" name="圆角矩形 18">
            <a:extLst>
              <a:ext uri="{FF2B5EF4-FFF2-40B4-BE49-F238E27FC236}">
                <a16:creationId xmlns:a16="http://schemas.microsoft.com/office/drawing/2014/main" id="{57A6E435-75F5-E680-AEBD-C51A767C4A86}"/>
              </a:ext>
            </a:extLst>
          </p:cNvPr>
          <p:cNvSpPr/>
          <p:nvPr/>
        </p:nvSpPr>
        <p:spPr>
          <a:xfrm>
            <a:off x="1118370" y="1260909"/>
            <a:ext cx="2211971" cy="4603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网络安全法</a:t>
            </a:r>
          </a:p>
        </p:txBody>
      </p:sp>
    </p:spTree>
    <p:extLst>
      <p:ext uri="{BB962C8B-B14F-4D97-AF65-F5344CB8AC3E}">
        <p14:creationId xmlns:p14="http://schemas.microsoft.com/office/powerpoint/2010/main" val="2198306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7">
            <a:extLst>
              <a:ext uri="{FF2B5EF4-FFF2-40B4-BE49-F238E27FC236}">
                <a16:creationId xmlns:a16="http://schemas.microsoft.com/office/drawing/2014/main" id="{78917E8D-BF89-4ABA-572C-C59CED94D778}"/>
              </a:ext>
            </a:extLst>
          </p:cNvPr>
          <p:cNvSpPr/>
          <p:nvPr/>
        </p:nvSpPr>
        <p:spPr>
          <a:xfrm>
            <a:off x="1204362" y="1645280"/>
            <a:ext cx="7786681" cy="3337964"/>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eaLnBrk="0" hangingPunct="0">
              <a:spcBef>
                <a:spcPct val="50000"/>
              </a:spcBef>
            </a:pPr>
            <a:r>
              <a:rPr lang="zh-CN" altLang="en-US" b="1" dirty="0">
                <a:solidFill>
                  <a:schemeClr val="tx1"/>
                </a:solidFill>
                <a:latin typeface="宋体" panose="02010600030101010101" pitchFamily="2" charset="-122"/>
                <a:ea typeface="宋体" panose="02010600030101010101" pitchFamily="2" charset="-122"/>
              </a:rPr>
              <a:t>调整数据处理活动及其安全监管的法律规范的总称。</a:t>
            </a:r>
            <a:endParaRPr lang="en-US" altLang="zh-CN" b="1" dirty="0">
              <a:solidFill>
                <a:schemeClr val="tx1"/>
              </a:solidFill>
              <a:latin typeface="宋体" panose="02010600030101010101" pitchFamily="2" charset="-122"/>
              <a:ea typeface="宋体" panose="02010600030101010101" pitchFamily="2" charset="-122"/>
            </a:endParaRPr>
          </a:p>
          <a:p>
            <a:pPr eaLnBrk="0" hangingPunct="0">
              <a:spcBef>
                <a:spcPct val="50000"/>
              </a:spcBef>
            </a:pPr>
            <a:endParaRPr lang="en-US" altLang="zh-CN" b="1" dirty="0">
              <a:solidFill>
                <a:schemeClr val="tx1"/>
              </a:solidFill>
              <a:latin typeface="宋体" panose="02010600030101010101" pitchFamily="2" charset="-122"/>
              <a:ea typeface="宋体" panose="02010600030101010101" pitchFamily="2" charset="-122"/>
            </a:endParaRPr>
          </a:p>
          <a:p>
            <a:pPr eaLnBrk="0" hangingPunct="0">
              <a:spcBef>
                <a:spcPct val="50000"/>
              </a:spcBef>
            </a:pPr>
            <a:r>
              <a:rPr lang="zh-CN" altLang="en-US" b="1" dirty="0">
                <a:solidFill>
                  <a:schemeClr val="tx1"/>
                </a:solidFill>
                <a:latin typeface="宋体" panose="02010600030101010101" pitchFamily="2" charset="-122"/>
                <a:ea typeface="宋体" panose="02010600030101010101" pitchFamily="2" charset="-122"/>
              </a:rPr>
              <a:t>立法宗旨</a:t>
            </a:r>
            <a:endParaRPr lang="en-US" altLang="zh-CN" b="1" dirty="0">
              <a:solidFill>
                <a:schemeClr val="tx1"/>
              </a:solidFill>
              <a:latin typeface="宋体" panose="02010600030101010101" pitchFamily="2" charset="-122"/>
              <a:ea typeface="宋体" panose="02010600030101010101" pitchFamily="2" charset="-122"/>
            </a:endParaRPr>
          </a:p>
          <a:p>
            <a:pPr eaLnBrk="0" hangingPunct="0">
              <a:spcBef>
                <a:spcPct val="50000"/>
              </a:spcBef>
            </a:pPr>
            <a:r>
              <a:rPr lang="zh-CN" altLang="en-US" b="1" dirty="0">
                <a:solidFill>
                  <a:schemeClr val="tx1"/>
                </a:solidFill>
                <a:latin typeface="宋体" panose="02010600030101010101" pitchFamily="2" charset="-122"/>
                <a:ea typeface="宋体" panose="02010600030101010101" pitchFamily="2" charset="-122"/>
              </a:rPr>
              <a:t>为了规范数据处理活动，保障数据安全，促进数据开发利用，保护个人、组织的合法权益，维护国家主权、安全和发展利益。</a:t>
            </a:r>
          </a:p>
        </p:txBody>
      </p:sp>
      <p:sp>
        <p:nvSpPr>
          <p:cNvPr id="6" name="圆角矩形 18">
            <a:extLst>
              <a:ext uri="{FF2B5EF4-FFF2-40B4-BE49-F238E27FC236}">
                <a16:creationId xmlns:a16="http://schemas.microsoft.com/office/drawing/2014/main" id="{479F8589-3878-9C7A-381F-10537C3B83CA}"/>
              </a:ext>
            </a:extLst>
          </p:cNvPr>
          <p:cNvSpPr/>
          <p:nvPr/>
        </p:nvSpPr>
        <p:spPr>
          <a:xfrm>
            <a:off x="1118370" y="1260909"/>
            <a:ext cx="2211971" cy="4603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数据安全法</a:t>
            </a:r>
          </a:p>
        </p:txBody>
      </p:sp>
      <p:sp>
        <p:nvSpPr>
          <p:cNvPr id="7" name="标题 1">
            <a:extLst>
              <a:ext uri="{FF2B5EF4-FFF2-40B4-BE49-F238E27FC236}">
                <a16:creationId xmlns:a16="http://schemas.microsoft.com/office/drawing/2014/main" id="{76A802F5-6BDD-17F8-2380-CF748D13524F}"/>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latin typeface="黑体" panose="02010609060101010101" pitchFamily="49" charset="-122"/>
                <a:ea typeface="宋体" panose="02010600030101010101" pitchFamily="2" charset="-122"/>
              </a:rPr>
              <a:t>10.3 </a:t>
            </a:r>
            <a:r>
              <a:rPr lang="zh-CN" altLang="en-US" sz="2400" dirty="0">
                <a:latin typeface="黑体" panose="02010609060101010101" pitchFamily="49" charset="-122"/>
                <a:ea typeface="宋体" panose="02010600030101010101" pitchFamily="2" charset="-122"/>
              </a:rPr>
              <a:t>数据安全法</a:t>
            </a:r>
          </a:p>
        </p:txBody>
      </p:sp>
      <p:grpSp>
        <p:nvGrpSpPr>
          <p:cNvPr id="10" name="组合 9">
            <a:extLst>
              <a:ext uri="{FF2B5EF4-FFF2-40B4-BE49-F238E27FC236}">
                <a16:creationId xmlns:a16="http://schemas.microsoft.com/office/drawing/2014/main" id="{274D992E-0474-775E-3588-6458EF5DB0BB}"/>
              </a:ext>
            </a:extLst>
          </p:cNvPr>
          <p:cNvGrpSpPr/>
          <p:nvPr/>
        </p:nvGrpSpPr>
        <p:grpSpPr>
          <a:xfrm>
            <a:off x="9625" y="741145"/>
            <a:ext cx="1046951" cy="6116855"/>
            <a:chOff x="9625" y="741145"/>
            <a:chExt cx="1046951" cy="6116855"/>
          </a:xfrm>
        </p:grpSpPr>
        <p:sp>
          <p:nvSpPr>
            <p:cNvPr id="13" name="矩形 12">
              <a:extLst>
                <a:ext uri="{FF2B5EF4-FFF2-40B4-BE49-F238E27FC236}">
                  <a16:creationId xmlns:a16="http://schemas.microsoft.com/office/drawing/2014/main" id="{3F323170-1D5F-A655-855F-9B4007BE1B30}"/>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4" name="矩形 13">
              <a:extLst>
                <a:ext uri="{FF2B5EF4-FFF2-40B4-BE49-F238E27FC236}">
                  <a16:creationId xmlns:a16="http://schemas.microsoft.com/office/drawing/2014/main" id="{5FBC42BE-B536-EBEC-244D-8B12610EC85C}"/>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15" name="矩形 14">
              <a:extLst>
                <a:ext uri="{FF2B5EF4-FFF2-40B4-BE49-F238E27FC236}">
                  <a16:creationId xmlns:a16="http://schemas.microsoft.com/office/drawing/2014/main" id="{89DB0505-1577-C6C1-3D48-F8F96FD95681}"/>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C00000"/>
                  </a:solidFill>
                  <a:latin typeface="SimHei" panose="02010609060101010101" pitchFamily="49" charset="-122"/>
                  <a:ea typeface="SimHei" panose="02010609060101010101" pitchFamily="49" charset="-122"/>
                </a:rPr>
                <a:t>数据安全法</a:t>
              </a:r>
            </a:p>
          </p:txBody>
        </p:sp>
        <p:sp>
          <p:nvSpPr>
            <p:cNvPr id="16" name="矩形 15">
              <a:extLst>
                <a:ext uri="{FF2B5EF4-FFF2-40B4-BE49-F238E27FC236}">
                  <a16:creationId xmlns:a16="http://schemas.microsoft.com/office/drawing/2014/main" id="{62F3F8BE-A7FB-8B01-6A2C-4A5EB9C165F8}"/>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17" name="矩形 16">
              <a:extLst>
                <a:ext uri="{FF2B5EF4-FFF2-40B4-BE49-F238E27FC236}">
                  <a16:creationId xmlns:a16="http://schemas.microsoft.com/office/drawing/2014/main" id="{861C76DF-9D6C-825E-A14B-76C14B2527E2}"/>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41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7">
            <a:extLst>
              <a:ext uri="{FF2B5EF4-FFF2-40B4-BE49-F238E27FC236}">
                <a16:creationId xmlns:a16="http://schemas.microsoft.com/office/drawing/2014/main" id="{78917E8D-BF89-4ABA-572C-C59CED94D778}"/>
              </a:ext>
            </a:extLst>
          </p:cNvPr>
          <p:cNvSpPr/>
          <p:nvPr/>
        </p:nvSpPr>
        <p:spPr>
          <a:xfrm>
            <a:off x="1204362" y="1645280"/>
            <a:ext cx="7786681" cy="3337964"/>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pPr>
            <a:r>
              <a:rPr lang="zh-CN" altLang="en-US" b="1" dirty="0">
                <a:solidFill>
                  <a:schemeClr val="tx1"/>
                </a:solidFill>
              </a:rPr>
              <a:t>第一章　总　则	</a:t>
            </a:r>
          </a:p>
          <a:p>
            <a:pPr>
              <a:lnSpc>
                <a:spcPct val="150000"/>
              </a:lnSpc>
            </a:pPr>
            <a:r>
              <a:rPr lang="zh-CN" altLang="en-US" b="1" dirty="0">
                <a:solidFill>
                  <a:schemeClr val="tx1"/>
                </a:solidFill>
              </a:rPr>
              <a:t>第二章　数据安全与发展	</a:t>
            </a:r>
          </a:p>
          <a:p>
            <a:pPr>
              <a:lnSpc>
                <a:spcPct val="150000"/>
              </a:lnSpc>
            </a:pPr>
            <a:r>
              <a:rPr lang="zh-CN" altLang="en-US" b="1" dirty="0">
                <a:solidFill>
                  <a:schemeClr val="tx1"/>
                </a:solidFill>
              </a:rPr>
              <a:t>第三章　</a:t>
            </a:r>
            <a:r>
              <a:rPr lang="zh-CN" altLang="en-US" b="1" dirty="0">
                <a:solidFill>
                  <a:schemeClr val="tx1"/>
                </a:solidFill>
                <a:highlight>
                  <a:srgbClr val="FFFF00"/>
                </a:highlight>
              </a:rPr>
              <a:t>数据安全制度</a:t>
            </a:r>
            <a:r>
              <a:rPr lang="zh-CN" altLang="en-US" b="1" dirty="0">
                <a:solidFill>
                  <a:schemeClr val="tx1"/>
                </a:solidFill>
              </a:rPr>
              <a:t>	</a:t>
            </a:r>
          </a:p>
          <a:p>
            <a:pPr>
              <a:lnSpc>
                <a:spcPct val="150000"/>
              </a:lnSpc>
            </a:pPr>
            <a:r>
              <a:rPr lang="zh-CN" altLang="en-US" b="1" dirty="0">
                <a:solidFill>
                  <a:schemeClr val="tx1"/>
                </a:solidFill>
              </a:rPr>
              <a:t>第四章　</a:t>
            </a:r>
            <a:r>
              <a:rPr lang="zh-CN" altLang="en-US" b="1" dirty="0">
                <a:solidFill>
                  <a:schemeClr val="tx1"/>
                </a:solidFill>
                <a:highlight>
                  <a:srgbClr val="FFFF00"/>
                </a:highlight>
              </a:rPr>
              <a:t>数据安全保护义务</a:t>
            </a:r>
            <a:r>
              <a:rPr lang="zh-CN" altLang="en-US" b="1" dirty="0">
                <a:solidFill>
                  <a:schemeClr val="tx1"/>
                </a:solidFill>
              </a:rPr>
              <a:t>	</a:t>
            </a:r>
          </a:p>
          <a:p>
            <a:pPr>
              <a:lnSpc>
                <a:spcPct val="150000"/>
              </a:lnSpc>
            </a:pPr>
            <a:r>
              <a:rPr lang="zh-CN" altLang="en-US" b="1" dirty="0">
                <a:solidFill>
                  <a:schemeClr val="tx1"/>
                </a:solidFill>
              </a:rPr>
              <a:t>第五章　</a:t>
            </a:r>
            <a:r>
              <a:rPr lang="zh-CN" altLang="en-US" b="1" dirty="0">
                <a:solidFill>
                  <a:schemeClr val="tx1"/>
                </a:solidFill>
                <a:highlight>
                  <a:srgbClr val="FFFF00"/>
                </a:highlight>
              </a:rPr>
              <a:t>政务数据安全与开放</a:t>
            </a:r>
            <a:r>
              <a:rPr lang="zh-CN" altLang="en-US" b="1" dirty="0">
                <a:solidFill>
                  <a:schemeClr val="tx1"/>
                </a:solidFill>
              </a:rPr>
              <a:t>	</a:t>
            </a:r>
          </a:p>
          <a:p>
            <a:pPr>
              <a:lnSpc>
                <a:spcPct val="150000"/>
              </a:lnSpc>
            </a:pPr>
            <a:r>
              <a:rPr lang="zh-CN" altLang="en-US" b="1" dirty="0">
                <a:solidFill>
                  <a:schemeClr val="tx1"/>
                </a:solidFill>
              </a:rPr>
              <a:t>第六章　法律责任	</a:t>
            </a:r>
          </a:p>
          <a:p>
            <a:pPr>
              <a:lnSpc>
                <a:spcPct val="150000"/>
              </a:lnSpc>
            </a:pPr>
            <a:r>
              <a:rPr lang="zh-CN" altLang="en-US" b="1" dirty="0">
                <a:solidFill>
                  <a:schemeClr val="tx1"/>
                </a:solidFill>
              </a:rPr>
              <a:t>第七章　附　则	</a:t>
            </a:r>
            <a:endParaRPr lang="zh-CN" altLang="en-US" b="1" dirty="0">
              <a:solidFill>
                <a:schemeClr val="tx1"/>
              </a:solidFill>
              <a:latin typeface="宋体" panose="02010600030101010101" pitchFamily="2" charset="-122"/>
              <a:ea typeface="宋体" panose="02010600030101010101" pitchFamily="2" charset="-122"/>
            </a:endParaRPr>
          </a:p>
        </p:txBody>
      </p:sp>
      <p:sp>
        <p:nvSpPr>
          <p:cNvPr id="4" name="标题 1">
            <a:extLst>
              <a:ext uri="{FF2B5EF4-FFF2-40B4-BE49-F238E27FC236}">
                <a16:creationId xmlns:a16="http://schemas.microsoft.com/office/drawing/2014/main" id="{B4127B7D-88E2-2BD0-7D94-B45E054BE8E8}"/>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latin typeface="黑体" panose="02010609060101010101" pitchFamily="49" charset="-122"/>
                <a:ea typeface="宋体" panose="02010600030101010101" pitchFamily="2" charset="-122"/>
              </a:rPr>
              <a:t>10.3 </a:t>
            </a:r>
            <a:r>
              <a:rPr lang="zh-CN" altLang="en-US" sz="2400" dirty="0">
                <a:latin typeface="黑体" panose="02010609060101010101" pitchFamily="49" charset="-122"/>
                <a:ea typeface="宋体" panose="02010600030101010101" pitchFamily="2" charset="-122"/>
              </a:rPr>
              <a:t>数据安全法</a:t>
            </a:r>
          </a:p>
        </p:txBody>
      </p:sp>
      <p:grpSp>
        <p:nvGrpSpPr>
          <p:cNvPr id="6" name="组合 5">
            <a:extLst>
              <a:ext uri="{FF2B5EF4-FFF2-40B4-BE49-F238E27FC236}">
                <a16:creationId xmlns:a16="http://schemas.microsoft.com/office/drawing/2014/main" id="{3D5D614E-A03D-5612-AE52-935D4305323B}"/>
              </a:ext>
            </a:extLst>
          </p:cNvPr>
          <p:cNvGrpSpPr/>
          <p:nvPr/>
        </p:nvGrpSpPr>
        <p:grpSpPr>
          <a:xfrm>
            <a:off x="9625" y="741145"/>
            <a:ext cx="1046951" cy="6116855"/>
            <a:chOff x="9625" y="741145"/>
            <a:chExt cx="1046951" cy="6116855"/>
          </a:xfrm>
        </p:grpSpPr>
        <p:sp>
          <p:nvSpPr>
            <p:cNvPr id="7" name="矩形 6">
              <a:extLst>
                <a:ext uri="{FF2B5EF4-FFF2-40B4-BE49-F238E27FC236}">
                  <a16:creationId xmlns:a16="http://schemas.microsoft.com/office/drawing/2014/main" id="{B480151D-AE3C-3E53-3A7D-F8D27CF26296}"/>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0" name="矩形 9">
              <a:extLst>
                <a:ext uri="{FF2B5EF4-FFF2-40B4-BE49-F238E27FC236}">
                  <a16:creationId xmlns:a16="http://schemas.microsoft.com/office/drawing/2014/main" id="{CB34ED4F-0D93-4A96-04BA-8B448522494F}"/>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13" name="矩形 12">
              <a:extLst>
                <a:ext uri="{FF2B5EF4-FFF2-40B4-BE49-F238E27FC236}">
                  <a16:creationId xmlns:a16="http://schemas.microsoft.com/office/drawing/2014/main" id="{91CE197C-B9DD-873A-6771-35AF85C2557F}"/>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C00000"/>
                  </a:solidFill>
                  <a:latin typeface="SimHei" panose="02010609060101010101" pitchFamily="49" charset="-122"/>
                  <a:ea typeface="SimHei" panose="02010609060101010101" pitchFamily="49" charset="-122"/>
                </a:rPr>
                <a:t>数据安全法</a:t>
              </a:r>
            </a:p>
          </p:txBody>
        </p:sp>
        <p:sp>
          <p:nvSpPr>
            <p:cNvPr id="14" name="矩形 13">
              <a:extLst>
                <a:ext uri="{FF2B5EF4-FFF2-40B4-BE49-F238E27FC236}">
                  <a16:creationId xmlns:a16="http://schemas.microsoft.com/office/drawing/2014/main" id="{F87D128B-5D4E-C589-C955-53F9B3476474}"/>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15" name="矩形 14">
              <a:extLst>
                <a:ext uri="{FF2B5EF4-FFF2-40B4-BE49-F238E27FC236}">
                  <a16:creationId xmlns:a16="http://schemas.microsoft.com/office/drawing/2014/main" id="{A4AA1285-647E-7823-C44B-DA1AB8846278}"/>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概  述</a:t>
              </a:r>
            </a:p>
          </p:txBody>
        </p:sp>
      </p:grpSp>
      <p:sp>
        <p:nvSpPr>
          <p:cNvPr id="16" name="圆角矩形 18">
            <a:extLst>
              <a:ext uri="{FF2B5EF4-FFF2-40B4-BE49-F238E27FC236}">
                <a16:creationId xmlns:a16="http://schemas.microsoft.com/office/drawing/2014/main" id="{FEECBBFE-E825-FCE3-5596-B1BA0D1F7B94}"/>
              </a:ext>
            </a:extLst>
          </p:cNvPr>
          <p:cNvSpPr/>
          <p:nvPr/>
        </p:nvSpPr>
        <p:spPr>
          <a:xfrm>
            <a:off x="1118370" y="1260909"/>
            <a:ext cx="2211971" cy="4603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目录 </a:t>
            </a:r>
            <a:r>
              <a:rPr kumimoji="1" lang="en-US" altLang="zh-CN" b="1" dirty="0"/>
              <a:t>–</a:t>
            </a:r>
            <a:r>
              <a:rPr kumimoji="1" lang="zh-CN" altLang="en-US" b="1" dirty="0"/>
              <a:t> 共</a:t>
            </a:r>
            <a:r>
              <a:rPr kumimoji="1" lang="en-US" altLang="zh-CN" b="1" dirty="0"/>
              <a:t>55</a:t>
            </a:r>
            <a:r>
              <a:rPr kumimoji="1" lang="zh-CN" altLang="en-US" b="1" dirty="0"/>
              <a:t>条</a:t>
            </a:r>
          </a:p>
        </p:txBody>
      </p:sp>
    </p:spTree>
    <p:extLst>
      <p:ext uri="{BB962C8B-B14F-4D97-AF65-F5344CB8AC3E}">
        <p14:creationId xmlns:p14="http://schemas.microsoft.com/office/powerpoint/2010/main" val="377203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29F5221-2865-3FEF-F47E-8BC18650E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5443" y="1661917"/>
            <a:ext cx="7719767" cy="4044326"/>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1">
            <a:extLst>
              <a:ext uri="{FF2B5EF4-FFF2-40B4-BE49-F238E27FC236}">
                <a16:creationId xmlns:a16="http://schemas.microsoft.com/office/drawing/2014/main" id="{4A1D3114-563F-EA60-7A39-6CA55EB08579}"/>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latin typeface="黑体" panose="02010609060101010101" pitchFamily="49" charset="-122"/>
                <a:ea typeface="宋体" panose="02010600030101010101" pitchFamily="2" charset="-122"/>
              </a:rPr>
              <a:t>10.3 </a:t>
            </a:r>
            <a:r>
              <a:rPr lang="zh-CN" altLang="en-US" sz="2400" dirty="0">
                <a:latin typeface="黑体" panose="02010609060101010101" pitchFamily="49" charset="-122"/>
                <a:ea typeface="宋体" panose="02010600030101010101" pitchFamily="2" charset="-122"/>
              </a:rPr>
              <a:t>数据安全法</a:t>
            </a:r>
          </a:p>
        </p:txBody>
      </p:sp>
      <p:grpSp>
        <p:nvGrpSpPr>
          <p:cNvPr id="10" name="组合 9">
            <a:extLst>
              <a:ext uri="{FF2B5EF4-FFF2-40B4-BE49-F238E27FC236}">
                <a16:creationId xmlns:a16="http://schemas.microsoft.com/office/drawing/2014/main" id="{958A624A-F0CC-D10A-5056-90194B8A3379}"/>
              </a:ext>
            </a:extLst>
          </p:cNvPr>
          <p:cNvGrpSpPr/>
          <p:nvPr/>
        </p:nvGrpSpPr>
        <p:grpSpPr>
          <a:xfrm>
            <a:off x="9625" y="741145"/>
            <a:ext cx="1046951" cy="6116855"/>
            <a:chOff x="9625" y="741145"/>
            <a:chExt cx="1046951" cy="6116855"/>
          </a:xfrm>
        </p:grpSpPr>
        <p:sp>
          <p:nvSpPr>
            <p:cNvPr id="13" name="矩形 12">
              <a:extLst>
                <a:ext uri="{FF2B5EF4-FFF2-40B4-BE49-F238E27FC236}">
                  <a16:creationId xmlns:a16="http://schemas.microsoft.com/office/drawing/2014/main" id="{07FD664A-0307-EBD4-3E21-F204CCF545B2}"/>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4" name="矩形 13">
              <a:extLst>
                <a:ext uri="{FF2B5EF4-FFF2-40B4-BE49-F238E27FC236}">
                  <a16:creationId xmlns:a16="http://schemas.microsoft.com/office/drawing/2014/main" id="{4F9D1266-DA14-960F-370B-D662CBB7E56F}"/>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15" name="矩形 14">
              <a:extLst>
                <a:ext uri="{FF2B5EF4-FFF2-40B4-BE49-F238E27FC236}">
                  <a16:creationId xmlns:a16="http://schemas.microsoft.com/office/drawing/2014/main" id="{3C5B95E4-6FE8-A6C7-47D9-46B41FBB0548}"/>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C00000"/>
                  </a:solidFill>
                  <a:latin typeface="SimHei" panose="02010609060101010101" pitchFamily="49" charset="-122"/>
                  <a:ea typeface="SimHei" panose="02010609060101010101" pitchFamily="49" charset="-122"/>
                </a:rPr>
                <a:t>数据安全法</a:t>
              </a:r>
            </a:p>
          </p:txBody>
        </p:sp>
        <p:sp>
          <p:nvSpPr>
            <p:cNvPr id="16" name="矩形 15">
              <a:extLst>
                <a:ext uri="{FF2B5EF4-FFF2-40B4-BE49-F238E27FC236}">
                  <a16:creationId xmlns:a16="http://schemas.microsoft.com/office/drawing/2014/main" id="{34F9B643-24D1-8C61-35F3-5B2E707DC7E4}"/>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个人信息保护法</a:t>
              </a:r>
            </a:p>
          </p:txBody>
        </p:sp>
        <p:sp>
          <p:nvSpPr>
            <p:cNvPr id="17" name="矩形 16">
              <a:extLst>
                <a:ext uri="{FF2B5EF4-FFF2-40B4-BE49-F238E27FC236}">
                  <a16:creationId xmlns:a16="http://schemas.microsoft.com/office/drawing/2014/main" id="{56BF8261-0971-EDBF-C18E-82CE45B9FA61}"/>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2776741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7">
            <a:extLst>
              <a:ext uri="{FF2B5EF4-FFF2-40B4-BE49-F238E27FC236}">
                <a16:creationId xmlns:a16="http://schemas.microsoft.com/office/drawing/2014/main" id="{78917E8D-BF89-4ABA-572C-C59CED94D778}"/>
              </a:ext>
            </a:extLst>
          </p:cNvPr>
          <p:cNvSpPr/>
          <p:nvPr/>
        </p:nvSpPr>
        <p:spPr>
          <a:xfrm>
            <a:off x="1204362" y="1645279"/>
            <a:ext cx="7786681" cy="4091267"/>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50000"/>
              </a:lnSpc>
            </a:pPr>
            <a:r>
              <a:rPr lang="zh-CN" altLang="en-US" b="1" dirty="0">
                <a:solidFill>
                  <a:schemeClr val="tx1"/>
                </a:solidFill>
              </a:rPr>
              <a:t>调整个人信息处理活动的法律规范的总称。</a:t>
            </a:r>
            <a:endParaRPr lang="en-US" altLang="zh-CN" b="1" dirty="0">
              <a:solidFill>
                <a:schemeClr val="tx1"/>
              </a:solidFill>
            </a:endParaRPr>
          </a:p>
          <a:p>
            <a:pPr>
              <a:lnSpc>
                <a:spcPct val="150000"/>
              </a:lnSpc>
            </a:pPr>
            <a:endParaRPr lang="en-US" altLang="zh-CN" b="1" dirty="0">
              <a:solidFill>
                <a:schemeClr val="tx1"/>
              </a:solidFill>
            </a:endParaRPr>
          </a:p>
          <a:p>
            <a:pPr>
              <a:lnSpc>
                <a:spcPct val="150000"/>
              </a:lnSpc>
            </a:pPr>
            <a:r>
              <a:rPr lang="zh-CN" altLang="en-US" b="1" dirty="0">
                <a:solidFill>
                  <a:schemeClr val="tx1"/>
                </a:solidFill>
              </a:rPr>
              <a:t>立法宗旨</a:t>
            </a:r>
            <a:endParaRPr lang="en-US" altLang="zh-CN" b="1" dirty="0">
              <a:solidFill>
                <a:schemeClr val="tx1"/>
              </a:solidFill>
            </a:endParaRPr>
          </a:p>
          <a:p>
            <a:pPr>
              <a:lnSpc>
                <a:spcPct val="150000"/>
              </a:lnSpc>
            </a:pPr>
            <a:r>
              <a:rPr lang="zh-CN" altLang="en-US" b="1" dirty="0">
                <a:solidFill>
                  <a:schemeClr val="tx1"/>
                </a:solidFill>
              </a:rPr>
              <a:t>为了保护个人信息权益，规范个人信息处理活动，促进个人信息合理利用。</a:t>
            </a:r>
          </a:p>
        </p:txBody>
      </p:sp>
      <p:sp>
        <p:nvSpPr>
          <p:cNvPr id="10" name="标题 1">
            <a:extLst>
              <a:ext uri="{FF2B5EF4-FFF2-40B4-BE49-F238E27FC236}">
                <a16:creationId xmlns:a16="http://schemas.microsoft.com/office/drawing/2014/main" id="{C8A23197-324A-ECD6-C7C9-60E10D217147}"/>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latin typeface="黑体" panose="02010609060101010101" pitchFamily="49" charset="-122"/>
                <a:ea typeface="宋体" panose="02010600030101010101" pitchFamily="2" charset="-122"/>
              </a:rPr>
              <a:t>10.4 </a:t>
            </a:r>
            <a:r>
              <a:rPr lang="zh-CN" altLang="en-US" sz="2400" dirty="0">
                <a:latin typeface="黑体" panose="02010609060101010101" pitchFamily="49" charset="-122"/>
                <a:ea typeface="宋体" panose="02010600030101010101" pitchFamily="2" charset="-122"/>
              </a:rPr>
              <a:t>个人信息保护法</a:t>
            </a:r>
          </a:p>
        </p:txBody>
      </p:sp>
      <p:grpSp>
        <p:nvGrpSpPr>
          <p:cNvPr id="13" name="组合 12">
            <a:extLst>
              <a:ext uri="{FF2B5EF4-FFF2-40B4-BE49-F238E27FC236}">
                <a16:creationId xmlns:a16="http://schemas.microsoft.com/office/drawing/2014/main" id="{97C9799E-0EAC-5AA3-7BE9-B722B1B6E240}"/>
              </a:ext>
            </a:extLst>
          </p:cNvPr>
          <p:cNvGrpSpPr/>
          <p:nvPr/>
        </p:nvGrpSpPr>
        <p:grpSpPr>
          <a:xfrm>
            <a:off x="9625" y="741145"/>
            <a:ext cx="1046951" cy="6116855"/>
            <a:chOff x="9625" y="741145"/>
            <a:chExt cx="1046951" cy="6116855"/>
          </a:xfrm>
        </p:grpSpPr>
        <p:sp>
          <p:nvSpPr>
            <p:cNvPr id="14" name="矩形 13">
              <a:extLst>
                <a:ext uri="{FF2B5EF4-FFF2-40B4-BE49-F238E27FC236}">
                  <a16:creationId xmlns:a16="http://schemas.microsoft.com/office/drawing/2014/main" id="{369FB4E6-FE12-04F4-05BB-4EEE096F4647}"/>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5" name="矩形 14">
              <a:extLst>
                <a:ext uri="{FF2B5EF4-FFF2-40B4-BE49-F238E27FC236}">
                  <a16:creationId xmlns:a16="http://schemas.microsoft.com/office/drawing/2014/main" id="{F9C2B354-61AE-803D-00A1-9BA9C2808029}"/>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16" name="矩形 15">
              <a:extLst>
                <a:ext uri="{FF2B5EF4-FFF2-40B4-BE49-F238E27FC236}">
                  <a16:creationId xmlns:a16="http://schemas.microsoft.com/office/drawing/2014/main" id="{72B72206-9712-E19A-2FF8-4DF75FC3C4D7}"/>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17" name="矩形 16">
              <a:extLst>
                <a:ext uri="{FF2B5EF4-FFF2-40B4-BE49-F238E27FC236}">
                  <a16:creationId xmlns:a16="http://schemas.microsoft.com/office/drawing/2014/main" id="{21BC2F51-0953-9E4C-C124-5EBD5984B176}"/>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C00000"/>
                  </a:solidFill>
                  <a:latin typeface="SimHei" panose="02010609060101010101" pitchFamily="49" charset="-122"/>
                  <a:ea typeface="SimHei" panose="02010609060101010101" pitchFamily="49" charset="-122"/>
                </a:rPr>
                <a:t>个人信息保护法</a:t>
              </a:r>
            </a:p>
          </p:txBody>
        </p:sp>
        <p:sp>
          <p:nvSpPr>
            <p:cNvPr id="18" name="矩形 17">
              <a:extLst>
                <a:ext uri="{FF2B5EF4-FFF2-40B4-BE49-F238E27FC236}">
                  <a16:creationId xmlns:a16="http://schemas.microsoft.com/office/drawing/2014/main" id="{4F974510-CDCB-7AB6-84B4-F8638EFD3951}"/>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概  述</a:t>
              </a:r>
            </a:p>
          </p:txBody>
        </p:sp>
      </p:grpSp>
      <p:sp>
        <p:nvSpPr>
          <p:cNvPr id="20" name="圆角矩形 18">
            <a:extLst>
              <a:ext uri="{FF2B5EF4-FFF2-40B4-BE49-F238E27FC236}">
                <a16:creationId xmlns:a16="http://schemas.microsoft.com/office/drawing/2014/main" id="{51C7D7C2-9554-363A-DC7A-26356E32DCBD}"/>
              </a:ext>
            </a:extLst>
          </p:cNvPr>
          <p:cNvSpPr/>
          <p:nvPr/>
        </p:nvSpPr>
        <p:spPr>
          <a:xfrm>
            <a:off x="1118370" y="1354533"/>
            <a:ext cx="2298598"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个人信息保护法</a:t>
            </a:r>
          </a:p>
        </p:txBody>
      </p:sp>
    </p:spTree>
    <p:extLst>
      <p:ext uri="{BB962C8B-B14F-4D97-AF65-F5344CB8AC3E}">
        <p14:creationId xmlns:p14="http://schemas.microsoft.com/office/powerpoint/2010/main" val="182681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7">
            <a:extLst>
              <a:ext uri="{FF2B5EF4-FFF2-40B4-BE49-F238E27FC236}">
                <a16:creationId xmlns:a16="http://schemas.microsoft.com/office/drawing/2014/main" id="{78917E8D-BF89-4ABA-572C-C59CED94D778}"/>
              </a:ext>
            </a:extLst>
          </p:cNvPr>
          <p:cNvSpPr/>
          <p:nvPr/>
        </p:nvSpPr>
        <p:spPr>
          <a:xfrm>
            <a:off x="1204362" y="1645279"/>
            <a:ext cx="7786681" cy="4091267"/>
          </a:xfrm>
          <a:prstGeom prst="roundRect">
            <a:avLst>
              <a:gd name="adj" fmla="val 9426"/>
            </a:avLst>
          </a:prstGeom>
          <a:ln>
            <a:noFill/>
          </a:ln>
          <a:effectLst/>
          <a:scene3d>
            <a:camera prst="orthographicFront">
              <a:rot lat="0" lon="0" rev="0"/>
            </a:camera>
            <a:lightRig rig="chilly" dir="t">
              <a:rot lat="0" lon="0" rev="18480000"/>
            </a:lightRig>
          </a:scene3d>
          <a:sp3d prstMaterial="clear">
            <a:bevelT h="635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nSpc>
                <a:spcPct val="130000"/>
              </a:lnSpc>
            </a:pPr>
            <a:r>
              <a:rPr lang="zh-CN" altLang="en-US" b="1" dirty="0">
                <a:solidFill>
                  <a:schemeClr val="tx1"/>
                </a:solidFill>
              </a:rPr>
              <a:t>第一章　总　则	</a:t>
            </a:r>
          </a:p>
          <a:p>
            <a:pPr>
              <a:lnSpc>
                <a:spcPct val="130000"/>
              </a:lnSpc>
            </a:pPr>
            <a:r>
              <a:rPr lang="zh-CN" altLang="en-US" b="1" dirty="0">
                <a:solidFill>
                  <a:schemeClr val="tx1"/>
                </a:solidFill>
              </a:rPr>
              <a:t>第二章　个人信息处理规则	</a:t>
            </a:r>
          </a:p>
          <a:p>
            <a:pPr>
              <a:lnSpc>
                <a:spcPct val="130000"/>
              </a:lnSpc>
            </a:pPr>
            <a:r>
              <a:rPr lang="zh-CN" altLang="en-US" b="1" dirty="0">
                <a:solidFill>
                  <a:schemeClr val="tx1"/>
                </a:solidFill>
              </a:rPr>
              <a:t>       </a:t>
            </a:r>
            <a:r>
              <a:rPr lang="zh-CN" altLang="en-US" b="1" dirty="0">
                <a:solidFill>
                  <a:schemeClr val="tx1"/>
                </a:solidFill>
                <a:highlight>
                  <a:srgbClr val="FFFF00"/>
                </a:highlight>
              </a:rPr>
              <a:t>第一节　一般规定	</a:t>
            </a:r>
          </a:p>
          <a:p>
            <a:pPr>
              <a:lnSpc>
                <a:spcPct val="130000"/>
              </a:lnSpc>
            </a:pPr>
            <a:r>
              <a:rPr lang="zh-CN" altLang="en-US" b="1" dirty="0">
                <a:solidFill>
                  <a:schemeClr val="tx1"/>
                </a:solidFill>
              </a:rPr>
              <a:t>       </a:t>
            </a:r>
            <a:r>
              <a:rPr lang="zh-CN" altLang="en-US" b="1" dirty="0">
                <a:solidFill>
                  <a:schemeClr val="tx1"/>
                </a:solidFill>
                <a:highlight>
                  <a:srgbClr val="FFFF00"/>
                </a:highlight>
              </a:rPr>
              <a:t>第二节  敏感个人信息的处理规则	</a:t>
            </a:r>
            <a:endParaRPr lang="zh-CN" altLang="en-US" b="1" dirty="0">
              <a:solidFill>
                <a:schemeClr val="tx1"/>
              </a:solidFill>
            </a:endParaRPr>
          </a:p>
          <a:p>
            <a:pPr>
              <a:lnSpc>
                <a:spcPct val="130000"/>
              </a:lnSpc>
            </a:pPr>
            <a:r>
              <a:rPr lang="zh-CN" altLang="en-US" b="1" dirty="0">
                <a:solidFill>
                  <a:schemeClr val="tx1"/>
                </a:solidFill>
              </a:rPr>
              <a:t>       第三节　国家机关处理个人信息的特别规定	</a:t>
            </a:r>
          </a:p>
          <a:p>
            <a:pPr>
              <a:lnSpc>
                <a:spcPct val="130000"/>
              </a:lnSpc>
            </a:pPr>
            <a:r>
              <a:rPr lang="zh-CN" altLang="en-US" b="1" dirty="0">
                <a:solidFill>
                  <a:schemeClr val="tx1"/>
                </a:solidFill>
              </a:rPr>
              <a:t>第三章　个人信息跨境提供的规则	</a:t>
            </a:r>
          </a:p>
          <a:p>
            <a:pPr>
              <a:lnSpc>
                <a:spcPct val="130000"/>
              </a:lnSpc>
            </a:pPr>
            <a:r>
              <a:rPr lang="zh-CN" altLang="en-US" b="1" dirty="0">
                <a:solidFill>
                  <a:schemeClr val="tx1"/>
                </a:solidFill>
                <a:highlight>
                  <a:srgbClr val="FFFF00"/>
                </a:highlight>
              </a:rPr>
              <a:t>第四章　个人在个人信息处理活动中的权利	</a:t>
            </a:r>
          </a:p>
          <a:p>
            <a:pPr>
              <a:lnSpc>
                <a:spcPct val="130000"/>
              </a:lnSpc>
            </a:pPr>
            <a:r>
              <a:rPr lang="zh-CN" altLang="en-US" b="1" dirty="0">
                <a:solidFill>
                  <a:schemeClr val="tx1"/>
                </a:solidFill>
                <a:highlight>
                  <a:srgbClr val="FFFF00"/>
                </a:highlight>
              </a:rPr>
              <a:t>第五章　个人信息处理者的义务	</a:t>
            </a:r>
            <a:endParaRPr lang="zh-CN" altLang="en-US" b="1" dirty="0">
              <a:solidFill>
                <a:schemeClr val="tx1"/>
              </a:solidFill>
            </a:endParaRPr>
          </a:p>
          <a:p>
            <a:pPr>
              <a:lnSpc>
                <a:spcPct val="130000"/>
              </a:lnSpc>
            </a:pPr>
            <a:r>
              <a:rPr lang="zh-CN" altLang="en-US" b="1" dirty="0">
                <a:solidFill>
                  <a:schemeClr val="tx1"/>
                </a:solidFill>
              </a:rPr>
              <a:t>第六章　履行个人信息保护职责的部门	</a:t>
            </a:r>
          </a:p>
          <a:p>
            <a:pPr>
              <a:lnSpc>
                <a:spcPct val="130000"/>
              </a:lnSpc>
            </a:pPr>
            <a:r>
              <a:rPr lang="zh-CN" altLang="en-US" b="1" dirty="0">
                <a:solidFill>
                  <a:schemeClr val="tx1"/>
                </a:solidFill>
              </a:rPr>
              <a:t>第七章　法律责任	</a:t>
            </a:r>
          </a:p>
          <a:p>
            <a:pPr>
              <a:lnSpc>
                <a:spcPct val="130000"/>
              </a:lnSpc>
            </a:pPr>
            <a:r>
              <a:rPr lang="zh-CN" altLang="en-US" b="1" dirty="0">
                <a:solidFill>
                  <a:schemeClr val="tx1"/>
                </a:solidFill>
              </a:rPr>
              <a:t>第八章　附　则	</a:t>
            </a:r>
          </a:p>
        </p:txBody>
      </p:sp>
      <p:sp>
        <p:nvSpPr>
          <p:cNvPr id="19" name="圆角矩形 18">
            <a:extLst>
              <a:ext uri="{FF2B5EF4-FFF2-40B4-BE49-F238E27FC236}">
                <a16:creationId xmlns:a16="http://schemas.microsoft.com/office/drawing/2014/main" id="{830383E8-5CA7-6EFF-6B47-4877F7DEA209}"/>
              </a:ext>
            </a:extLst>
          </p:cNvPr>
          <p:cNvSpPr/>
          <p:nvPr/>
        </p:nvSpPr>
        <p:spPr>
          <a:xfrm>
            <a:off x="1118370" y="1354533"/>
            <a:ext cx="2298598" cy="366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个人信息保护法</a:t>
            </a:r>
          </a:p>
        </p:txBody>
      </p:sp>
      <p:sp>
        <p:nvSpPr>
          <p:cNvPr id="4" name="标题 1">
            <a:extLst>
              <a:ext uri="{FF2B5EF4-FFF2-40B4-BE49-F238E27FC236}">
                <a16:creationId xmlns:a16="http://schemas.microsoft.com/office/drawing/2014/main" id="{D2CCD766-DBA6-3F77-F7D3-1A832BB3D365}"/>
              </a:ext>
            </a:extLst>
          </p:cNvPr>
          <p:cNvSpPr txBox="1">
            <a:spLocks/>
          </p:cNvSpPr>
          <p:nvPr/>
        </p:nvSpPr>
        <p:spPr>
          <a:xfrm>
            <a:off x="228648" y="212965"/>
            <a:ext cx="7886700" cy="36671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latin typeface="黑体" panose="02010609060101010101" pitchFamily="49" charset="-122"/>
                <a:ea typeface="宋体" panose="02010600030101010101" pitchFamily="2" charset="-122"/>
              </a:rPr>
              <a:t>10.4 </a:t>
            </a:r>
            <a:r>
              <a:rPr lang="zh-CN" altLang="en-US" sz="2400" dirty="0">
                <a:latin typeface="黑体" panose="02010609060101010101" pitchFamily="49" charset="-122"/>
                <a:ea typeface="宋体" panose="02010600030101010101" pitchFamily="2" charset="-122"/>
              </a:rPr>
              <a:t>个人信息保护法</a:t>
            </a:r>
          </a:p>
        </p:txBody>
      </p:sp>
      <p:grpSp>
        <p:nvGrpSpPr>
          <p:cNvPr id="6" name="组合 5">
            <a:extLst>
              <a:ext uri="{FF2B5EF4-FFF2-40B4-BE49-F238E27FC236}">
                <a16:creationId xmlns:a16="http://schemas.microsoft.com/office/drawing/2014/main" id="{5AD66724-1185-9DC0-6CD1-EDCE4ED0CAAC}"/>
              </a:ext>
            </a:extLst>
          </p:cNvPr>
          <p:cNvGrpSpPr/>
          <p:nvPr/>
        </p:nvGrpSpPr>
        <p:grpSpPr>
          <a:xfrm>
            <a:off x="9625" y="741145"/>
            <a:ext cx="1046951" cy="6116855"/>
            <a:chOff x="9625" y="741145"/>
            <a:chExt cx="1046951" cy="6116855"/>
          </a:xfrm>
        </p:grpSpPr>
        <p:sp>
          <p:nvSpPr>
            <p:cNvPr id="10" name="矩形 9">
              <a:extLst>
                <a:ext uri="{FF2B5EF4-FFF2-40B4-BE49-F238E27FC236}">
                  <a16:creationId xmlns:a16="http://schemas.microsoft.com/office/drawing/2014/main" id="{9BAF59F8-E606-A590-3738-691DF1697399}"/>
                </a:ext>
              </a:extLst>
            </p:cNvPr>
            <p:cNvSpPr/>
            <p:nvPr/>
          </p:nvSpPr>
          <p:spPr>
            <a:xfrm>
              <a:off x="9625" y="741145"/>
              <a:ext cx="1046951" cy="6116855"/>
            </a:xfrm>
            <a:prstGeom prst="rect">
              <a:avLst/>
            </a:prstGeom>
            <a:solidFill>
              <a:srgbClr val="7AA5D3">
                <a:alpha val="61000"/>
              </a:srgbClr>
            </a:solidFill>
            <a:ln w="28575" cmpd="thickThin">
              <a:solidFill>
                <a:srgbClr val="7AA5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3" name="矩形 12">
              <a:extLst>
                <a:ext uri="{FF2B5EF4-FFF2-40B4-BE49-F238E27FC236}">
                  <a16:creationId xmlns:a16="http://schemas.microsoft.com/office/drawing/2014/main" id="{B5BFA96D-0BEC-0740-C044-5AA2B1C6430A}"/>
                </a:ext>
              </a:extLst>
            </p:cNvPr>
            <p:cNvSpPr/>
            <p:nvPr/>
          </p:nvSpPr>
          <p:spPr>
            <a:xfrm>
              <a:off x="45765" y="2806458"/>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网络安全法</a:t>
              </a:r>
            </a:p>
          </p:txBody>
        </p:sp>
        <p:sp>
          <p:nvSpPr>
            <p:cNvPr id="14" name="矩形 13">
              <a:extLst>
                <a:ext uri="{FF2B5EF4-FFF2-40B4-BE49-F238E27FC236}">
                  <a16:creationId xmlns:a16="http://schemas.microsoft.com/office/drawing/2014/main" id="{5B0AE921-0EE8-F8FB-CDD0-F5A7136FEEEE}"/>
                </a:ext>
              </a:extLst>
            </p:cNvPr>
            <p:cNvSpPr/>
            <p:nvPr/>
          </p:nvSpPr>
          <p:spPr>
            <a:xfrm>
              <a:off x="45765" y="403006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数据安全法</a:t>
              </a:r>
            </a:p>
          </p:txBody>
        </p:sp>
        <p:sp>
          <p:nvSpPr>
            <p:cNvPr id="15" name="矩形 14">
              <a:extLst>
                <a:ext uri="{FF2B5EF4-FFF2-40B4-BE49-F238E27FC236}">
                  <a16:creationId xmlns:a16="http://schemas.microsoft.com/office/drawing/2014/main" id="{FCF45F99-E771-70AA-A511-9F752719FD30}"/>
                </a:ext>
              </a:extLst>
            </p:cNvPr>
            <p:cNvSpPr/>
            <p:nvPr/>
          </p:nvSpPr>
          <p:spPr>
            <a:xfrm>
              <a:off x="45765" y="5190270"/>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rgbClr val="C00000"/>
                  </a:solidFill>
                  <a:latin typeface="SimHei" panose="02010609060101010101" pitchFamily="49" charset="-122"/>
                  <a:ea typeface="SimHei" panose="02010609060101010101" pitchFamily="49" charset="-122"/>
                </a:rPr>
                <a:t>个人信息保护法</a:t>
              </a:r>
            </a:p>
          </p:txBody>
        </p:sp>
        <p:sp>
          <p:nvSpPr>
            <p:cNvPr id="16" name="矩形 15">
              <a:extLst>
                <a:ext uri="{FF2B5EF4-FFF2-40B4-BE49-F238E27FC236}">
                  <a16:creationId xmlns:a16="http://schemas.microsoft.com/office/drawing/2014/main" id="{8353AEFF-08B9-C1FE-6B01-7AEC1A0B8F83}"/>
                </a:ext>
              </a:extLst>
            </p:cNvPr>
            <p:cNvSpPr/>
            <p:nvPr/>
          </p:nvSpPr>
          <p:spPr>
            <a:xfrm>
              <a:off x="45765" y="1601496"/>
              <a:ext cx="972000" cy="515973"/>
            </a:xfrm>
            <a:prstGeom prst="rect">
              <a:avLst/>
            </a:prstGeom>
            <a:solidFill>
              <a:schemeClr val="accent1">
                <a:lumMod val="20000"/>
                <a:lumOff val="80000"/>
              </a:schemeClr>
            </a:solidFill>
            <a:ln>
              <a:solidFill>
                <a:schemeClr val="accent1">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zh-CN" altLang="en-US" sz="1550" dirty="0">
                  <a:solidFill>
                    <a:schemeClr val="bg1">
                      <a:lumMod val="65000"/>
                    </a:schemeClr>
                  </a:solidFill>
                  <a:latin typeface="SimHei" panose="02010609060101010101" pitchFamily="49" charset="-122"/>
                  <a:ea typeface="SimHei" panose="02010609060101010101" pitchFamily="49" charset="-122"/>
                </a:rPr>
                <a:t>概  述</a:t>
              </a:r>
            </a:p>
          </p:txBody>
        </p:sp>
      </p:grpSp>
    </p:spTree>
    <p:extLst>
      <p:ext uri="{BB962C8B-B14F-4D97-AF65-F5344CB8AC3E}">
        <p14:creationId xmlns:p14="http://schemas.microsoft.com/office/powerpoint/2010/main" val="316766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27030</TotalTime>
  <Words>2364</Words>
  <Application>Microsoft Office PowerPoint</Application>
  <PresentationFormat>全屏显示(4:3)</PresentationFormat>
  <Paragraphs>236</Paragraphs>
  <Slides>20</Slides>
  <Notes>20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20</vt:i4>
      </vt:variant>
    </vt:vector>
  </HeadingPairs>
  <TitlesOfParts>
    <vt:vector size="31" baseType="lpstr">
      <vt:lpstr>Times New Roman</vt:lpstr>
      <vt:lpstr>SimSun</vt:lpstr>
      <vt:lpstr>黑体</vt:lpstr>
      <vt:lpstr>等线</vt:lpstr>
      <vt:lpstr>SimSun</vt:lpstr>
      <vt:lpstr>黑体</vt:lpstr>
      <vt:lpstr>Arial</vt:lpstr>
      <vt:lpstr>等线 Light</vt:lpstr>
      <vt:lpstr>Calibri</vt:lpstr>
      <vt:lpstr>Office 主题​​</vt:lpstr>
      <vt:lpstr>自定义设计方案</vt:lpstr>
      <vt:lpstr>PowerPoint 演示文稿</vt:lpstr>
      <vt:lpstr>10.1 概述</vt:lpstr>
      <vt:lpstr>10.1 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zendaimoney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xiaoba ba</dc:creator>
  <cp:lastModifiedBy>小野猫 Allison的</cp:lastModifiedBy>
  <cp:revision>836</cp:revision>
  <dcterms:created xsi:type="dcterms:W3CDTF">2013-09-30T03:51:32Z</dcterms:created>
  <dcterms:modified xsi:type="dcterms:W3CDTF">2024-11-22T02:49:08Z</dcterms:modified>
</cp:coreProperties>
</file>