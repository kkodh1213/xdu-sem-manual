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66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5" r:id="rId11"/>
    <p:sldId id="263" r:id="rId12"/>
    <p:sldId id="264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746" autoAdjust="0"/>
  </p:normalViewPr>
  <p:slideViewPr>
    <p:cSldViewPr>
      <p:cViewPr varScale="1">
        <p:scale>
          <a:sx n="67" d="100"/>
          <a:sy n="67" d="100"/>
        </p:scale>
        <p:origin x="190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1E951-B8CB-425B-BE7E-E17369A2626F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80556-E022-4656-A0FE-545BDFEBC1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680556-E022-4656-A0FE-545BDFEBC131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任意多边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任意多边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任意多边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1976E31-A5AE-43EF-A034-7AB4AB24DDC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0B92F12-4550-4EF6-A0E1-0C89DBC8E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dirty="0" smtClean="0"/>
              <a:t>单击此处编辑母版文本样式</a:t>
            </a:r>
          </a:p>
          <a:p>
            <a:pPr lvl="1" eaLnBrk="1" latinLnBrk="0" hangingPunct="1"/>
            <a:r>
              <a:rPr lang="zh-CN" altLang="en-US" dirty="0" smtClean="0"/>
              <a:t>第二级</a:t>
            </a:r>
          </a:p>
          <a:p>
            <a:pPr lvl="2" eaLnBrk="1" latinLnBrk="0" hangingPunct="1"/>
            <a:r>
              <a:rPr lang="zh-CN" altLang="en-US" dirty="0" smtClean="0"/>
              <a:t>第三级</a:t>
            </a:r>
          </a:p>
          <a:p>
            <a:pPr lvl="3" eaLnBrk="1" latinLnBrk="0" hangingPunct="1"/>
            <a:r>
              <a:rPr lang="zh-CN" altLang="en-US" dirty="0" smtClean="0"/>
              <a:t>第四级</a:t>
            </a:r>
          </a:p>
          <a:p>
            <a:pPr lvl="4" eaLnBrk="1" latinLnBrk="0" hangingPunct="1"/>
            <a:r>
              <a:rPr lang="zh-CN" altLang="en-US" dirty="0" smtClean="0"/>
              <a:t>第五级</a:t>
            </a:r>
            <a:endParaRPr kumimoji="0"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6E31-A5AE-43EF-A034-7AB4AB24DDC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2F12-4550-4EF6-A0E1-0C89DBC8E9C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529208" y="274638"/>
            <a:ext cx="7715200" cy="706090"/>
          </a:xfrm>
        </p:spPr>
        <p:txBody>
          <a:bodyPr rtlCol="0">
            <a:normAutofit/>
          </a:bodyPr>
          <a:lstStyle>
            <a:lvl1pPr>
              <a:defRPr sz="3600">
                <a:ea typeface="楷体_GB2312"/>
              </a:defRPr>
            </a:lvl1pPr>
            <a:extLst/>
          </a:lstStyle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0" y="0"/>
            <a:ext cx="76200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08720"/>
            <a:ext cx="5508625" cy="17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组合 1"/>
          <p:cNvGrpSpPr>
            <a:grpSpLocks/>
          </p:cNvGrpSpPr>
          <p:nvPr userDrawn="1"/>
        </p:nvGrpSpPr>
        <p:grpSpPr bwMode="auto">
          <a:xfrm>
            <a:off x="107504" y="477937"/>
            <a:ext cx="381000" cy="358775"/>
            <a:chOff x="196850" y="304800"/>
            <a:chExt cx="381000" cy="358775"/>
          </a:xfrm>
        </p:grpSpPr>
        <p:sp>
          <p:nvSpPr>
            <p:cNvPr id="10" name="Oval 152"/>
            <p:cNvSpPr>
              <a:spLocks noChangeArrowheads="1"/>
            </p:cNvSpPr>
            <p:nvPr userDrawn="1"/>
          </p:nvSpPr>
          <p:spPr bwMode="gray">
            <a:xfrm flipH="1">
              <a:off x="196850" y="304800"/>
              <a:ext cx="134938" cy="134938"/>
            </a:xfrm>
            <a:prstGeom prst="ellipse">
              <a:avLst/>
            </a:prstGeom>
            <a:solidFill>
              <a:srgbClr val="ACACAC"/>
            </a:soli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  <a:cs typeface="+mn-cs"/>
              </a:endParaRPr>
            </a:p>
          </p:txBody>
        </p:sp>
        <p:sp>
          <p:nvSpPr>
            <p:cNvPr id="11" name="Oval 153"/>
            <p:cNvSpPr>
              <a:spLocks noChangeArrowheads="1"/>
            </p:cNvSpPr>
            <p:nvPr userDrawn="1"/>
          </p:nvSpPr>
          <p:spPr bwMode="gray">
            <a:xfrm flipH="1">
              <a:off x="442913" y="304800"/>
              <a:ext cx="134937" cy="134938"/>
            </a:xfrm>
            <a:prstGeom prst="ellipse">
              <a:avLst/>
            </a:prstGeom>
            <a:solidFill>
              <a:srgbClr val="8AC923"/>
            </a:soli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  <a:cs typeface="+mn-cs"/>
              </a:endParaRPr>
            </a:p>
          </p:txBody>
        </p:sp>
        <p:sp>
          <p:nvSpPr>
            <p:cNvPr id="12" name="Oval 154"/>
            <p:cNvSpPr>
              <a:spLocks noChangeArrowheads="1"/>
            </p:cNvSpPr>
            <p:nvPr userDrawn="1"/>
          </p:nvSpPr>
          <p:spPr bwMode="gray">
            <a:xfrm flipH="1">
              <a:off x="196850" y="528638"/>
              <a:ext cx="134938" cy="134937"/>
            </a:xfrm>
            <a:prstGeom prst="ellipse">
              <a:avLst/>
            </a:prstGeom>
            <a:solidFill>
              <a:srgbClr val="F7BC29"/>
            </a:soli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  <a:cs typeface="+mn-cs"/>
              </a:endParaRPr>
            </a:p>
          </p:txBody>
        </p:sp>
        <p:sp>
          <p:nvSpPr>
            <p:cNvPr id="13" name="Oval 155"/>
            <p:cNvSpPr>
              <a:spLocks noChangeArrowheads="1"/>
            </p:cNvSpPr>
            <p:nvPr userDrawn="1"/>
          </p:nvSpPr>
          <p:spPr bwMode="gray">
            <a:xfrm flipH="1">
              <a:off x="442913" y="528638"/>
              <a:ext cx="134937" cy="134937"/>
            </a:xfrm>
            <a:prstGeom prst="ellipse">
              <a:avLst/>
            </a:prstGeom>
            <a:solidFill>
              <a:srgbClr val="A28BE1"/>
            </a:soli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楷体_GB2312" pitchFamily="49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6E31-A5AE-43EF-A034-7AB4AB24DDC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2F12-4550-4EF6-A0E1-0C89DBC8E9C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燕尾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燕尾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6E31-A5AE-43EF-A034-7AB4AB24DDC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2F12-4550-4EF6-A0E1-0C89DBC8E9C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6E31-A5AE-43EF-A034-7AB4AB24DDC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2F12-4550-4EF6-A0E1-0C89DBC8E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6E31-A5AE-43EF-A034-7AB4AB24DDC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2F12-4550-4EF6-A0E1-0C89DBC8E9C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6E31-A5AE-43EF-A034-7AB4AB24DDC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2F12-4550-4EF6-A0E1-0C89DBC8E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81976E31-A5AE-43EF-A034-7AB4AB24DDC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2F12-4550-4EF6-A0E1-0C89DBC8E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1976E31-A5AE-43EF-A034-7AB4AB24DDC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0B92F12-4550-4EF6-A0E1-0C89DBC8E9C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任意多边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燕尾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燕尾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6E31-A5AE-43EF-A034-7AB4AB24DDC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2F12-4550-4EF6-A0E1-0C89DBC8E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6E31-A5AE-43EF-A034-7AB4AB24DDC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2F12-4550-4EF6-A0E1-0C89DBC8E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任意多边形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81976E31-A5AE-43EF-A034-7AB4AB24DDCC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0B92F12-4550-4EF6-A0E1-0C89DBC8E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540568" y="2132856"/>
            <a:ext cx="7772400" cy="1829761"/>
          </a:xfrm>
        </p:spPr>
        <p:txBody>
          <a:bodyPr/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数据库练习题集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1"/>
          <p:cNvPicPr>
            <a:picLocks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237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范式化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95536" y="1268760"/>
            <a:ext cx="824440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lang="zh-CN" altLang="zh-CN" sz="2800" b="1" kern="1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关于</a:t>
            </a:r>
            <a:r>
              <a:rPr lang="zh-CN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范式化，将</a:t>
            </a:r>
            <a:r>
              <a:rPr lang="en-US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1NF</a:t>
            </a:r>
            <a:r>
              <a:rPr lang="zh-CN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经过</a:t>
            </a:r>
            <a:r>
              <a:rPr lang="en-US" altLang="zh-CN" sz="2800" b="1" u="sng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zh-CN" sz="2800" b="1" u="sng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</a:t>
            </a:r>
            <a:r>
              <a:rPr lang="en-US" altLang="zh-CN" sz="2800" b="1" u="sng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转变为</a:t>
            </a:r>
            <a:r>
              <a:rPr lang="en-US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2NF</a:t>
            </a:r>
            <a:r>
              <a:rPr lang="zh-CN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，将</a:t>
            </a:r>
            <a:r>
              <a:rPr lang="en-US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2NF</a:t>
            </a:r>
            <a:r>
              <a:rPr lang="zh-CN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经过</a:t>
            </a:r>
            <a:r>
              <a:rPr lang="en-US" altLang="zh-CN" sz="2800" b="1" u="sng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zh-CN" sz="2800" b="1" u="sng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</a:t>
            </a:r>
            <a:r>
              <a:rPr lang="en-US" altLang="zh-CN" sz="2800" b="1" u="sng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转变为</a:t>
            </a:r>
            <a:r>
              <a:rPr lang="en-US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3NF</a:t>
            </a:r>
            <a:r>
              <a:rPr lang="zh-CN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。注：选项中的“码”亦称“键”。</a:t>
            </a:r>
            <a:r>
              <a:rPr lang="en-US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         </a:t>
            </a:r>
            <a:r>
              <a:rPr lang="zh-CN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 </a:t>
            </a:r>
            <a:r>
              <a:rPr lang="en-US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】</a:t>
            </a:r>
            <a:endParaRPr lang="zh-CN" altLang="zh-CN" sz="2800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33350"/>
            <a:r>
              <a:rPr lang="en-US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A.  </a:t>
            </a:r>
            <a:r>
              <a:rPr lang="zh-CN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①消除属性对码的部分函数依赖</a:t>
            </a:r>
            <a:endParaRPr lang="zh-CN" altLang="zh-CN" sz="2800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33350" indent="267970"/>
            <a:r>
              <a:rPr lang="zh-CN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②消除属性对码的传递函数依赖</a:t>
            </a:r>
            <a:endParaRPr lang="zh-CN" altLang="zh-CN" sz="2800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33350"/>
            <a:r>
              <a:rPr lang="en-US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B.  </a:t>
            </a:r>
            <a:r>
              <a:rPr lang="zh-CN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①消除非主属性对主属性的部分函数依赖</a:t>
            </a:r>
            <a:endParaRPr lang="zh-CN" altLang="zh-CN" sz="2800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33350" indent="267970"/>
            <a:r>
              <a:rPr lang="zh-CN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②消除非主属性对主属性的传递函数依赖</a:t>
            </a:r>
            <a:endParaRPr lang="zh-CN" altLang="zh-CN" sz="2800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33350"/>
            <a:r>
              <a:rPr lang="en-US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C.  </a:t>
            </a:r>
            <a:r>
              <a:rPr lang="zh-CN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①消除非主属性对码的部分函数依赖</a:t>
            </a:r>
            <a:endParaRPr lang="zh-CN" altLang="zh-CN" sz="2800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33350" indent="267970"/>
            <a:r>
              <a:rPr lang="zh-CN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②消除非主属性对码的传递函数依赖</a:t>
            </a:r>
            <a:endParaRPr lang="zh-CN" altLang="zh-CN" sz="2800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33350"/>
            <a:r>
              <a:rPr lang="en-US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D.  </a:t>
            </a:r>
            <a:r>
              <a:rPr lang="zh-CN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①消除主属性对码的传递函数依赖</a:t>
            </a:r>
            <a:endParaRPr lang="zh-CN" altLang="zh-CN" sz="2800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33350" indent="267970"/>
            <a:r>
              <a:rPr lang="zh-CN" altLang="zh-CN" sz="2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②消除主属性对码的部分函数依赖</a:t>
            </a:r>
            <a:endParaRPr lang="zh-CN" altLang="zh-CN" sz="2800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108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15616" y="1340768"/>
            <a:ext cx="72008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6225"/>
            <a:r>
              <a:rPr lang="en-US" altLang="zh-CN" sz="2800" b="1" kern="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某职工管理系统存在如下关系模式</a:t>
            </a:r>
            <a:r>
              <a:rPr lang="zh-CN" altLang="zh-CN" sz="2800" b="1" kern="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：职工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（职工编号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职工名称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职工部门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职工年龄），并已知不允许两个职工名称相同，则下列说法正确的是 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 					 </a:t>
            </a:r>
            <a:r>
              <a:rPr lang="en-US" altLang="zh-CN" sz="2800" b="1" kern="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          </a:t>
            </a:r>
            <a:r>
              <a:rPr lang="zh-CN" altLang="zh-CN" sz="2800" b="1" kern="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	   	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】</a:t>
            </a:r>
            <a:endParaRPr lang="zh-CN" altLang="zh-CN" sz="2800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276225"/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A.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满足第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范式，但不满足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BCNF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范式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zh-CN" sz="2800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276225"/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B.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满足第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范式但不满足第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范式</a:t>
            </a:r>
            <a:endParaRPr lang="zh-CN" altLang="zh-CN" sz="2800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276225"/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C.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满足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BCNF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范式</a:t>
            </a:r>
            <a:endParaRPr lang="zh-CN" altLang="zh-CN" sz="2800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276225"/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D.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其他都不对</a:t>
            </a:r>
            <a:endParaRPr lang="zh-CN" altLang="zh-CN" sz="2800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7927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8000" indent="0">
              <a:buNone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某地区举行篮球比赛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需要开发一个比赛信息管理系统来记录比赛的相关信息。根据需求阶段收集的信息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设计的实体联系图</a:t>
            </a:r>
          </a:p>
          <a:p>
            <a:pPr>
              <a:buNone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需求分析结果：</a:t>
            </a:r>
          </a:p>
          <a:p>
            <a:pPr>
              <a:buNone/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登记参赛球队的信息。记录球队的名称、代表地区、成立时间等信息。系统记录球队的每个队员的姓名、年龄、身高、体重等信息。每个球队有一个教练负责管理球队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一个教练仅负责一个球队。系统记录教练的姓名、年龄等信息。所有球员、教练可能出现重名情况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ER</a:t>
            </a:r>
            <a:r>
              <a:rPr lang="zh-CN" altLang="en-US" dirty="0" smtClean="0"/>
              <a:t>模型练习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ER</a:t>
            </a:r>
            <a:r>
              <a:rPr lang="zh-CN" altLang="en-US" dirty="0" smtClean="0"/>
              <a:t>模型练习</a:t>
            </a:r>
            <a:endParaRPr lang="zh-CN" alt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738313" y="2311747"/>
            <a:ext cx="1287462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 dirty="0">
                <a:latin typeface="楷体_GB2312" pitchFamily="49" charset="-122"/>
                <a:ea typeface="楷体_GB2312" pitchFamily="49" charset="-122"/>
              </a:rPr>
              <a:t>教练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521325" y="2345085"/>
            <a:ext cx="1285875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球队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3649663" y="2311747"/>
            <a:ext cx="1214437" cy="60960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担任</a:t>
            </a: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flipH="1">
            <a:off x="3006725" y="2616547"/>
            <a:ext cx="642938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4860925" y="2599085"/>
            <a:ext cx="679450" cy="19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auto">
          <a:xfrm>
            <a:off x="823913" y="1519585"/>
            <a:ext cx="1012825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 dirty="0">
                <a:latin typeface="楷体_GB2312" pitchFamily="49" charset="-122"/>
                <a:ea typeface="楷体_GB2312" pitchFamily="49" charset="-122"/>
              </a:rPr>
              <a:t>教练编号</a:t>
            </a:r>
          </a:p>
        </p:txBody>
      </p:sp>
      <p:sp>
        <p:nvSpPr>
          <p:cNvPr id="10" name="Oval 10"/>
          <p:cNvSpPr>
            <a:spLocks noChangeArrowheads="1"/>
          </p:cNvSpPr>
          <p:nvPr/>
        </p:nvSpPr>
        <p:spPr bwMode="auto">
          <a:xfrm>
            <a:off x="1763713" y="1268760"/>
            <a:ext cx="1014412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姓名</a:t>
            </a:r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auto">
          <a:xfrm>
            <a:off x="2700338" y="1519585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年龄</a:t>
            </a:r>
          </a:p>
        </p:txBody>
      </p:sp>
      <p:sp>
        <p:nvSpPr>
          <p:cNvPr id="12" name="Oval 12"/>
          <p:cNvSpPr>
            <a:spLocks noChangeArrowheads="1"/>
          </p:cNvSpPr>
          <p:nvPr/>
        </p:nvSpPr>
        <p:spPr bwMode="auto">
          <a:xfrm>
            <a:off x="6007100" y="1268760"/>
            <a:ext cx="1014413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代表地区</a:t>
            </a:r>
          </a:p>
        </p:txBody>
      </p:sp>
      <p:sp>
        <p:nvSpPr>
          <p:cNvPr id="13" name="Oval 13"/>
          <p:cNvSpPr>
            <a:spLocks noChangeArrowheads="1"/>
          </p:cNvSpPr>
          <p:nvPr/>
        </p:nvSpPr>
        <p:spPr bwMode="auto">
          <a:xfrm>
            <a:off x="4932363" y="1375122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球队名称</a:t>
            </a:r>
          </a:p>
        </p:txBody>
      </p:sp>
      <p:sp>
        <p:nvSpPr>
          <p:cNvPr id="14" name="Oval 14"/>
          <p:cNvSpPr>
            <a:spLocks noChangeArrowheads="1"/>
          </p:cNvSpPr>
          <p:nvPr/>
        </p:nvSpPr>
        <p:spPr bwMode="auto">
          <a:xfrm>
            <a:off x="7237413" y="1446560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成立时间</a:t>
            </a:r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 flipH="1" flipV="1">
            <a:off x="1476375" y="2165697"/>
            <a:ext cx="360363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 flipH="1">
            <a:off x="2197100" y="1878360"/>
            <a:ext cx="71438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 flipH="1">
            <a:off x="2555875" y="2094260"/>
            <a:ext cx="504825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>
            <a:off x="5683250" y="1951385"/>
            <a:ext cx="1143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 flipH="1">
            <a:off x="6300788" y="1878360"/>
            <a:ext cx="215900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 flipV="1">
            <a:off x="6588125" y="1951385"/>
            <a:ext cx="82867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5005388" y="2094260"/>
            <a:ext cx="3603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1</a:t>
            </a: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3348038" y="2094260"/>
            <a:ext cx="3603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1</a:t>
            </a:r>
          </a:p>
        </p:txBody>
      </p:sp>
      <p:sp>
        <p:nvSpPr>
          <p:cNvPr id="24" name="Oval 26"/>
          <p:cNvSpPr>
            <a:spLocks noChangeArrowheads="1"/>
          </p:cNvSpPr>
          <p:nvPr/>
        </p:nvSpPr>
        <p:spPr bwMode="auto">
          <a:xfrm>
            <a:off x="3924300" y="4759672"/>
            <a:ext cx="10922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入队时间</a:t>
            </a:r>
          </a:p>
        </p:txBody>
      </p:sp>
      <p:sp>
        <p:nvSpPr>
          <p:cNvPr id="25" name="Line 27"/>
          <p:cNvSpPr>
            <a:spLocks noChangeShapeType="1"/>
          </p:cNvSpPr>
          <p:nvPr/>
        </p:nvSpPr>
        <p:spPr bwMode="auto">
          <a:xfrm flipV="1">
            <a:off x="3205163" y="3751610"/>
            <a:ext cx="574675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28"/>
          <p:cNvSpPr>
            <a:spLocks noChangeArrowheads="1"/>
          </p:cNvSpPr>
          <p:nvPr/>
        </p:nvSpPr>
        <p:spPr bwMode="auto">
          <a:xfrm>
            <a:off x="1908175" y="4038947"/>
            <a:ext cx="1287463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队员</a:t>
            </a:r>
          </a:p>
        </p:txBody>
      </p:sp>
      <p:sp>
        <p:nvSpPr>
          <p:cNvPr id="27" name="AutoShape 29"/>
          <p:cNvSpPr>
            <a:spLocks noChangeArrowheads="1"/>
          </p:cNvSpPr>
          <p:nvPr/>
        </p:nvSpPr>
        <p:spPr bwMode="auto">
          <a:xfrm>
            <a:off x="3779838" y="3462685"/>
            <a:ext cx="1214437" cy="60960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属于</a:t>
            </a:r>
          </a:p>
        </p:txBody>
      </p:sp>
      <p:sp>
        <p:nvSpPr>
          <p:cNvPr id="28" name="Line 30"/>
          <p:cNvSpPr>
            <a:spLocks noChangeShapeType="1"/>
          </p:cNvSpPr>
          <p:nvPr/>
        </p:nvSpPr>
        <p:spPr bwMode="auto">
          <a:xfrm flipV="1">
            <a:off x="5003800" y="2959447"/>
            <a:ext cx="936625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" name="Oval 31"/>
          <p:cNvSpPr>
            <a:spLocks noChangeArrowheads="1"/>
          </p:cNvSpPr>
          <p:nvPr/>
        </p:nvSpPr>
        <p:spPr bwMode="auto">
          <a:xfrm>
            <a:off x="1116013" y="3246785"/>
            <a:ext cx="1012825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球员编号</a:t>
            </a:r>
          </a:p>
        </p:txBody>
      </p:sp>
      <p:sp>
        <p:nvSpPr>
          <p:cNvPr id="30" name="Oval 32"/>
          <p:cNvSpPr>
            <a:spLocks noChangeArrowheads="1"/>
          </p:cNvSpPr>
          <p:nvPr/>
        </p:nvSpPr>
        <p:spPr bwMode="auto">
          <a:xfrm>
            <a:off x="1116013" y="4615210"/>
            <a:ext cx="1014412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姓名</a:t>
            </a:r>
          </a:p>
        </p:txBody>
      </p:sp>
      <p:sp>
        <p:nvSpPr>
          <p:cNvPr id="31" name="Oval 33"/>
          <p:cNvSpPr>
            <a:spLocks noChangeArrowheads="1"/>
          </p:cNvSpPr>
          <p:nvPr/>
        </p:nvSpPr>
        <p:spPr bwMode="auto">
          <a:xfrm>
            <a:off x="1836738" y="5191472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身高</a:t>
            </a:r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 flipH="1" flipV="1">
            <a:off x="1692275" y="3823047"/>
            <a:ext cx="576263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3" name="Line 35"/>
          <p:cNvSpPr>
            <a:spLocks noChangeShapeType="1"/>
          </p:cNvSpPr>
          <p:nvPr/>
        </p:nvSpPr>
        <p:spPr bwMode="auto">
          <a:xfrm flipH="1">
            <a:off x="1476375" y="4399310"/>
            <a:ext cx="4318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4" name="Line 36"/>
          <p:cNvSpPr>
            <a:spLocks noChangeShapeType="1"/>
          </p:cNvSpPr>
          <p:nvPr/>
        </p:nvSpPr>
        <p:spPr bwMode="auto">
          <a:xfrm flipH="1">
            <a:off x="2339975" y="4615210"/>
            <a:ext cx="7302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5" name="Oval 37"/>
          <p:cNvSpPr>
            <a:spLocks noChangeArrowheads="1"/>
          </p:cNvSpPr>
          <p:nvPr/>
        </p:nvSpPr>
        <p:spPr bwMode="auto">
          <a:xfrm>
            <a:off x="2771775" y="4831110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体重</a:t>
            </a:r>
          </a:p>
        </p:txBody>
      </p:sp>
      <p:sp>
        <p:nvSpPr>
          <p:cNvPr id="36" name="Line 38"/>
          <p:cNvSpPr>
            <a:spLocks noChangeShapeType="1"/>
          </p:cNvSpPr>
          <p:nvPr/>
        </p:nvSpPr>
        <p:spPr bwMode="auto">
          <a:xfrm>
            <a:off x="2844800" y="4615210"/>
            <a:ext cx="50323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7" name="Line 39"/>
          <p:cNvSpPr>
            <a:spLocks noChangeShapeType="1"/>
          </p:cNvSpPr>
          <p:nvPr/>
        </p:nvSpPr>
        <p:spPr bwMode="auto">
          <a:xfrm>
            <a:off x="4356100" y="4038947"/>
            <a:ext cx="144463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3205163" y="3678585"/>
            <a:ext cx="3603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n</a:t>
            </a: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4932363" y="3175347"/>
            <a:ext cx="4333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1329"/>
            <a:ext cx="8686800" cy="245172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安排球队的训练信息。比赛组织者为球队提供了若干个场地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供球队进行适应性训练。系统记录现有的场地信息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包括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场地名称、场地规模、位置等信息。系统可为每个球队安排不同的训练场地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如表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所示。系统记录调练场地安排的信息。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           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表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训练安排表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ER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模型练习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334025"/>
              </p:ext>
            </p:extLst>
          </p:nvPr>
        </p:nvGraphicFramePr>
        <p:xfrm>
          <a:off x="1979712" y="3717032"/>
          <a:ext cx="6769100" cy="2808288"/>
        </p:xfrm>
        <a:graphic>
          <a:graphicData uri="http://schemas.openxmlformats.org/drawingml/2006/table">
            <a:tbl>
              <a:tblPr/>
              <a:tblGrid>
                <a:gridCol w="1801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9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7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球队名称</a:t>
                      </a:r>
                      <a:endParaRPr kumimoji="0" lang="zh-CN" altLang="en-US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场地名称</a:t>
                      </a:r>
                      <a:endParaRPr kumimoji="0" lang="zh-CN" alt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训练时间</a:t>
                      </a:r>
                      <a:endParaRPr kumimoji="0" lang="zh-CN" alt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解放军</a:t>
                      </a:r>
                      <a:endParaRPr kumimoji="0" lang="zh-CN" alt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一号球场</a:t>
                      </a:r>
                      <a:endParaRPr kumimoji="0" lang="zh-CN" alt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2015-06-09 14:00-18:00</a:t>
                      </a:r>
                      <a:endParaRPr kumimoji="0" lang="en-US" altLang="zh-CN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解放军</a:t>
                      </a:r>
                      <a:endParaRPr kumimoji="0" lang="zh-CN" alt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一号球场</a:t>
                      </a:r>
                      <a:endParaRPr kumimoji="0" lang="zh-CN" alt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2015-06-12 09:00-1200</a:t>
                      </a:r>
                      <a:endParaRPr kumimoji="0" lang="en-US" altLang="zh-CN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解放军</a:t>
                      </a:r>
                      <a:endParaRPr kumimoji="0" lang="zh-CN" alt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二号球场</a:t>
                      </a:r>
                      <a:endParaRPr kumimoji="0" lang="zh-CN" alt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2015-06-11 14:00-18:00</a:t>
                      </a:r>
                      <a:endParaRPr kumimoji="0" lang="en-US" altLang="zh-CN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山西</a:t>
                      </a:r>
                      <a:endParaRPr kumimoji="0" lang="zh-CN" alt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一号球场</a:t>
                      </a:r>
                      <a:endParaRPr kumimoji="0" lang="zh-CN" alt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2015-06-10 09:00-12:00</a:t>
                      </a:r>
                      <a:endParaRPr kumimoji="0" lang="en-US" altLang="zh-CN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ER</a:t>
            </a:r>
            <a:r>
              <a:rPr lang="zh-CN" altLang="en-US" dirty="0" smtClean="0"/>
              <a:t>模型练习</a:t>
            </a:r>
            <a:endParaRPr lang="zh-CN" alt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208064" y="2276946"/>
            <a:ext cx="1285875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球队</a:t>
            </a:r>
          </a:p>
        </p:txBody>
      </p:sp>
      <p:sp>
        <p:nvSpPr>
          <p:cNvPr id="5" name="Oval 6"/>
          <p:cNvSpPr>
            <a:spLocks noChangeArrowheads="1"/>
          </p:cNvSpPr>
          <p:nvPr/>
        </p:nvSpPr>
        <p:spPr bwMode="auto">
          <a:xfrm>
            <a:off x="3693839" y="1200621"/>
            <a:ext cx="1014413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代表地区</a:t>
            </a:r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2619102" y="1306983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球队名称</a:t>
            </a: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4924152" y="1378421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成立时间</a:t>
            </a:r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>
            <a:off x="3369989" y="1883246"/>
            <a:ext cx="1143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 flipH="1">
            <a:off x="3987527" y="1810221"/>
            <a:ext cx="215900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 flipV="1">
            <a:off x="4274864" y="1883246"/>
            <a:ext cx="82867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1" name="AutoShape 13"/>
          <p:cNvSpPr>
            <a:spLocks noChangeArrowheads="1"/>
          </p:cNvSpPr>
          <p:nvPr/>
        </p:nvSpPr>
        <p:spPr bwMode="auto">
          <a:xfrm>
            <a:off x="3195364" y="3323108"/>
            <a:ext cx="1214438" cy="60960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训练</a:t>
            </a: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3123927" y="4547071"/>
            <a:ext cx="1287462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场地</a:t>
            </a:r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>
            <a:off x="3843064" y="2891308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3771627" y="3899371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" name="Oval 19"/>
          <p:cNvSpPr>
            <a:spLocks noChangeArrowheads="1"/>
          </p:cNvSpPr>
          <p:nvPr/>
        </p:nvSpPr>
        <p:spPr bwMode="auto">
          <a:xfrm>
            <a:off x="2258739" y="5267796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场地名称</a:t>
            </a:r>
          </a:p>
        </p:txBody>
      </p:sp>
      <p:sp>
        <p:nvSpPr>
          <p:cNvPr id="16" name="Oval 20"/>
          <p:cNvSpPr>
            <a:spLocks noChangeArrowheads="1"/>
          </p:cNvSpPr>
          <p:nvPr/>
        </p:nvSpPr>
        <p:spPr bwMode="auto">
          <a:xfrm>
            <a:off x="3266802" y="5483696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场地规模</a:t>
            </a:r>
          </a:p>
        </p:txBody>
      </p:sp>
      <p:sp>
        <p:nvSpPr>
          <p:cNvPr id="17" name="Oval 21"/>
          <p:cNvSpPr>
            <a:spLocks noChangeArrowheads="1"/>
          </p:cNvSpPr>
          <p:nvPr/>
        </p:nvSpPr>
        <p:spPr bwMode="auto">
          <a:xfrm>
            <a:off x="4347889" y="5194771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位置</a:t>
            </a:r>
          </a:p>
        </p:txBody>
      </p:sp>
      <p:sp>
        <p:nvSpPr>
          <p:cNvPr id="18" name="Oval 22"/>
          <p:cNvSpPr>
            <a:spLocks noChangeArrowheads="1"/>
          </p:cNvSpPr>
          <p:nvPr/>
        </p:nvSpPr>
        <p:spPr bwMode="auto">
          <a:xfrm>
            <a:off x="2547664" y="3754908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训练时间</a:t>
            </a:r>
          </a:p>
        </p:txBody>
      </p:sp>
      <p:sp>
        <p:nvSpPr>
          <p:cNvPr id="19" name="Line 23"/>
          <p:cNvSpPr>
            <a:spLocks noChangeShapeType="1"/>
          </p:cNvSpPr>
          <p:nvPr/>
        </p:nvSpPr>
        <p:spPr bwMode="auto">
          <a:xfrm flipH="1">
            <a:off x="2979464" y="3610446"/>
            <a:ext cx="21590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24"/>
          <p:cNvSpPr txBox="1">
            <a:spLocks noChangeArrowheads="1"/>
          </p:cNvSpPr>
          <p:nvPr/>
        </p:nvSpPr>
        <p:spPr bwMode="auto">
          <a:xfrm>
            <a:off x="3843064" y="2962746"/>
            <a:ext cx="360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m</a:t>
            </a:r>
          </a:p>
        </p:txBody>
      </p: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3771627" y="4115271"/>
            <a:ext cx="3603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n</a:t>
            </a:r>
          </a:p>
        </p:txBody>
      </p:sp>
      <p:sp>
        <p:nvSpPr>
          <p:cNvPr id="23" name="Line 30"/>
          <p:cNvSpPr>
            <a:spLocks noChangeShapeType="1"/>
          </p:cNvSpPr>
          <p:nvPr/>
        </p:nvSpPr>
        <p:spPr bwMode="auto">
          <a:xfrm flipH="1">
            <a:off x="2763564" y="5157192"/>
            <a:ext cx="656308" cy="1106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4" name="Line 31"/>
          <p:cNvSpPr>
            <a:spLocks noChangeShapeType="1"/>
          </p:cNvSpPr>
          <p:nvPr/>
        </p:nvSpPr>
        <p:spPr bwMode="auto">
          <a:xfrm>
            <a:off x="3707903" y="5157192"/>
            <a:ext cx="63723" cy="326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5" name="Line 32"/>
          <p:cNvSpPr>
            <a:spLocks noChangeShapeType="1"/>
          </p:cNvSpPr>
          <p:nvPr/>
        </p:nvSpPr>
        <p:spPr bwMode="auto">
          <a:xfrm>
            <a:off x="4067944" y="5157192"/>
            <a:ext cx="504056" cy="720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223224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3.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安排比赛。该赛事聘请有专职裁判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每场比赛只安排一个裁判。系统记录裁判 的姓名、年龄、级别等信息。系统按照一定的规则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首先分组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然后根据球队、场地和 裁判情况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安排比赛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每场比赛的对阵双方分别称为甲队和乙队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。记录参赛球队、比赛时间、比分、场地名称等信息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如表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所示。裁判可能出现重名情况。表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比赛安排表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ER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模型练习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5888"/>
              </p:ext>
            </p:extLst>
          </p:nvPr>
        </p:nvGraphicFramePr>
        <p:xfrm>
          <a:off x="0" y="3865592"/>
          <a:ext cx="4321175" cy="2011680"/>
        </p:xfrm>
        <a:graphic>
          <a:graphicData uri="http://schemas.openxmlformats.org/drawingml/2006/table">
            <a:tbl>
              <a:tblPr/>
              <a:tblGrid>
                <a:gridCol w="118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甲队一一乙队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场地名称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比赛时间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裁判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比分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解放军一一北京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一号球场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2008-06-17 15:00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李大明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天津一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-</a:t>
                      </a: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山西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一号球场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2008-06-17 19:00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胡学梅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Group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514623"/>
              </p:ext>
            </p:extLst>
          </p:nvPr>
        </p:nvGraphicFramePr>
        <p:xfrm>
          <a:off x="4572000" y="3865592"/>
          <a:ext cx="4464496" cy="2011680"/>
        </p:xfrm>
        <a:graphic>
          <a:graphicData uri="http://schemas.openxmlformats.org/drawingml/2006/table">
            <a:tbl>
              <a:tblPr/>
              <a:tblGrid>
                <a:gridCol w="98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7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甲队一一乙队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场地名称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比赛时间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裁判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比分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上海一一安徽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二号球场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2008-06-17 15:00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丁鸿平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山东一一辽宁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二号球场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2008-06-17 19:00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郭爱琪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7"/>
          <p:cNvSpPr>
            <a:spLocks noChangeArrowheads="1"/>
          </p:cNvSpPr>
          <p:nvPr/>
        </p:nvSpPr>
        <p:spPr bwMode="auto">
          <a:xfrm>
            <a:off x="6804248" y="3442015"/>
            <a:ext cx="697627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B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组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Rectangle 58"/>
          <p:cNvSpPr>
            <a:spLocks noChangeArrowheads="1"/>
          </p:cNvSpPr>
          <p:nvPr/>
        </p:nvSpPr>
        <p:spPr bwMode="auto">
          <a:xfrm>
            <a:off x="1811773" y="3356992"/>
            <a:ext cx="697627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1600" dirty="0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 </a:t>
            </a:r>
            <a:r>
              <a:rPr lang="zh-CN" altLang="en-US" sz="1600" dirty="0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</a:t>
            </a:r>
            <a:r>
              <a:rPr lang="en-US" altLang="zh-CN" sz="1600" dirty="0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endParaRPr lang="en-US" altLang="zh-CN" sz="2800" dirty="0">
              <a:solidFill>
                <a:schemeClr val="hlin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ER</a:t>
            </a:r>
            <a:r>
              <a:rPr lang="zh-CN" altLang="en-US" dirty="0" smtClean="0"/>
              <a:t>模型练习</a:t>
            </a:r>
            <a:endParaRPr lang="zh-CN" alt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713038" y="2205310"/>
            <a:ext cx="1285875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球队</a:t>
            </a:r>
          </a:p>
        </p:txBody>
      </p:sp>
      <p:sp>
        <p:nvSpPr>
          <p:cNvPr id="5" name="Oval 6"/>
          <p:cNvSpPr>
            <a:spLocks noChangeArrowheads="1"/>
          </p:cNvSpPr>
          <p:nvPr/>
        </p:nvSpPr>
        <p:spPr bwMode="auto">
          <a:xfrm>
            <a:off x="3198813" y="1128985"/>
            <a:ext cx="1014412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代表地区</a:t>
            </a:r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2124075" y="1235347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球队名称</a:t>
            </a: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4429125" y="1306785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成立时间</a:t>
            </a:r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>
            <a:off x="2874963" y="1811610"/>
            <a:ext cx="1143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 flipH="1">
            <a:off x="3492500" y="1738585"/>
            <a:ext cx="215900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 flipV="1">
            <a:off x="3779838" y="1811610"/>
            <a:ext cx="82867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1" name="AutoShape 13"/>
          <p:cNvSpPr>
            <a:spLocks noChangeArrowheads="1"/>
          </p:cNvSpPr>
          <p:nvPr/>
        </p:nvSpPr>
        <p:spPr bwMode="auto">
          <a:xfrm>
            <a:off x="2700338" y="3251472"/>
            <a:ext cx="1214437" cy="60960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训练</a:t>
            </a:r>
          </a:p>
        </p:txBody>
      </p:sp>
      <p:sp>
        <p:nvSpPr>
          <p:cNvPr id="12" name="AutoShape 14"/>
          <p:cNvSpPr>
            <a:spLocks noChangeArrowheads="1"/>
          </p:cNvSpPr>
          <p:nvPr/>
        </p:nvSpPr>
        <p:spPr bwMode="auto">
          <a:xfrm>
            <a:off x="4284663" y="3251472"/>
            <a:ext cx="1214437" cy="60960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 dirty="0">
                <a:latin typeface="楷体_GB2312" pitchFamily="49" charset="-122"/>
                <a:ea typeface="楷体_GB2312" pitchFamily="49" charset="-122"/>
              </a:rPr>
              <a:t>比赛</a:t>
            </a:r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2628900" y="4475435"/>
            <a:ext cx="1287463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场地</a:t>
            </a:r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5364163" y="4619897"/>
            <a:ext cx="1287462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裁判</a:t>
            </a:r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3348038" y="2819672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8"/>
          <p:cNvSpPr>
            <a:spLocks noChangeShapeType="1"/>
          </p:cNvSpPr>
          <p:nvPr/>
        </p:nvSpPr>
        <p:spPr bwMode="auto">
          <a:xfrm>
            <a:off x="3276600" y="3827735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>
            <a:off x="3997325" y="2387872"/>
            <a:ext cx="86360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 flipH="1">
            <a:off x="3924300" y="3538810"/>
            <a:ext cx="360363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9" name="Line 21"/>
          <p:cNvSpPr>
            <a:spLocks noChangeShapeType="1"/>
          </p:cNvSpPr>
          <p:nvPr/>
        </p:nvSpPr>
        <p:spPr bwMode="auto">
          <a:xfrm>
            <a:off x="5508625" y="3538810"/>
            <a:ext cx="360363" cy="1081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2771775" y="5412060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场地规模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3852863" y="5195664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位置</a:t>
            </a:r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5940425" y="3827735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级别</a:t>
            </a:r>
          </a:p>
        </p:txBody>
      </p:sp>
      <p:sp>
        <p:nvSpPr>
          <p:cNvPr id="23" name="Oval 25"/>
          <p:cNvSpPr>
            <a:spLocks noChangeArrowheads="1"/>
          </p:cNvSpPr>
          <p:nvPr/>
        </p:nvSpPr>
        <p:spPr bwMode="auto">
          <a:xfrm>
            <a:off x="2052638" y="3683272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训练时间</a:t>
            </a:r>
          </a:p>
        </p:txBody>
      </p:sp>
      <p:sp>
        <p:nvSpPr>
          <p:cNvPr id="24" name="Line 26"/>
          <p:cNvSpPr>
            <a:spLocks noChangeShapeType="1"/>
          </p:cNvSpPr>
          <p:nvPr/>
        </p:nvSpPr>
        <p:spPr bwMode="auto">
          <a:xfrm flipH="1">
            <a:off x="2484438" y="3538810"/>
            <a:ext cx="21590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Box 27"/>
          <p:cNvSpPr txBox="1">
            <a:spLocks noChangeArrowheads="1"/>
          </p:cNvSpPr>
          <p:nvPr/>
        </p:nvSpPr>
        <p:spPr bwMode="auto">
          <a:xfrm>
            <a:off x="3348038" y="2891110"/>
            <a:ext cx="3603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m</a:t>
            </a:r>
          </a:p>
        </p:txBody>
      </p:sp>
      <p:sp>
        <p:nvSpPr>
          <p:cNvPr id="26" name="Text Box 28"/>
          <p:cNvSpPr txBox="1">
            <a:spLocks noChangeArrowheads="1"/>
          </p:cNvSpPr>
          <p:nvPr/>
        </p:nvSpPr>
        <p:spPr bwMode="auto">
          <a:xfrm>
            <a:off x="3276600" y="4043635"/>
            <a:ext cx="360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n</a:t>
            </a:r>
          </a:p>
        </p:txBody>
      </p:sp>
      <p:sp>
        <p:nvSpPr>
          <p:cNvPr id="27" name="Text Box 29"/>
          <p:cNvSpPr txBox="1">
            <a:spLocks noChangeArrowheads="1"/>
          </p:cNvSpPr>
          <p:nvPr/>
        </p:nvSpPr>
        <p:spPr bwMode="auto">
          <a:xfrm>
            <a:off x="4068763" y="2098947"/>
            <a:ext cx="3603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m</a:t>
            </a:r>
          </a:p>
        </p:txBody>
      </p:sp>
      <p:sp>
        <p:nvSpPr>
          <p:cNvPr id="28" name="Text Box 30"/>
          <p:cNvSpPr txBox="1">
            <a:spLocks noChangeArrowheads="1"/>
          </p:cNvSpPr>
          <p:nvPr/>
        </p:nvSpPr>
        <p:spPr bwMode="auto">
          <a:xfrm>
            <a:off x="4213225" y="3827735"/>
            <a:ext cx="360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n</a:t>
            </a:r>
          </a:p>
        </p:txBody>
      </p:sp>
      <p:sp>
        <p:nvSpPr>
          <p:cNvPr id="29" name="Text Box 31"/>
          <p:cNvSpPr txBox="1">
            <a:spLocks noChangeArrowheads="1"/>
          </p:cNvSpPr>
          <p:nvPr/>
        </p:nvSpPr>
        <p:spPr bwMode="auto">
          <a:xfrm>
            <a:off x="5437188" y="4188097"/>
            <a:ext cx="3603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k</a:t>
            </a:r>
          </a:p>
        </p:txBody>
      </p:sp>
      <p:sp>
        <p:nvSpPr>
          <p:cNvPr id="30" name="Oval 34"/>
          <p:cNvSpPr>
            <a:spLocks noChangeArrowheads="1"/>
          </p:cNvSpPr>
          <p:nvPr/>
        </p:nvSpPr>
        <p:spPr bwMode="auto">
          <a:xfrm>
            <a:off x="5437188" y="6059760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姓名</a:t>
            </a:r>
          </a:p>
        </p:txBody>
      </p:sp>
      <p:sp>
        <p:nvSpPr>
          <p:cNvPr id="31" name="Oval 35"/>
          <p:cNvSpPr>
            <a:spLocks noChangeArrowheads="1"/>
          </p:cNvSpPr>
          <p:nvPr/>
        </p:nvSpPr>
        <p:spPr bwMode="auto">
          <a:xfrm>
            <a:off x="4789488" y="5412060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裁判编号</a:t>
            </a:r>
          </a:p>
        </p:txBody>
      </p:sp>
      <p:sp>
        <p:nvSpPr>
          <p:cNvPr id="32" name="Oval 36"/>
          <p:cNvSpPr>
            <a:spLocks noChangeArrowheads="1"/>
          </p:cNvSpPr>
          <p:nvPr/>
        </p:nvSpPr>
        <p:spPr bwMode="auto">
          <a:xfrm>
            <a:off x="6084888" y="5483497"/>
            <a:ext cx="871537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年龄</a:t>
            </a:r>
          </a:p>
        </p:txBody>
      </p:sp>
      <p:sp>
        <p:nvSpPr>
          <p:cNvPr id="33" name="Line 37"/>
          <p:cNvSpPr>
            <a:spLocks noChangeShapeType="1"/>
          </p:cNvSpPr>
          <p:nvPr/>
        </p:nvSpPr>
        <p:spPr bwMode="auto">
          <a:xfrm flipH="1">
            <a:off x="2267744" y="5085184"/>
            <a:ext cx="576064" cy="1440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4" name="Line 38"/>
          <p:cNvSpPr>
            <a:spLocks noChangeShapeType="1"/>
          </p:cNvSpPr>
          <p:nvPr/>
        </p:nvSpPr>
        <p:spPr bwMode="auto">
          <a:xfrm>
            <a:off x="3203849" y="5085184"/>
            <a:ext cx="72752" cy="3268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5" name="Line 39"/>
          <p:cNvSpPr>
            <a:spLocks noChangeShapeType="1"/>
          </p:cNvSpPr>
          <p:nvPr/>
        </p:nvSpPr>
        <p:spPr bwMode="auto">
          <a:xfrm>
            <a:off x="3563888" y="5085184"/>
            <a:ext cx="576064" cy="1440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6" name="Line 40"/>
          <p:cNvSpPr>
            <a:spLocks noChangeShapeType="1"/>
          </p:cNvSpPr>
          <p:nvPr/>
        </p:nvSpPr>
        <p:spPr bwMode="auto">
          <a:xfrm flipH="1">
            <a:off x="6300788" y="4403997"/>
            <a:ext cx="360362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7" name="Line 41"/>
          <p:cNvSpPr>
            <a:spLocks noChangeShapeType="1"/>
          </p:cNvSpPr>
          <p:nvPr/>
        </p:nvSpPr>
        <p:spPr bwMode="auto">
          <a:xfrm flipH="1">
            <a:off x="5437188" y="5196160"/>
            <a:ext cx="2159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8" name="Line 42"/>
          <p:cNvSpPr>
            <a:spLocks noChangeShapeType="1"/>
          </p:cNvSpPr>
          <p:nvPr/>
        </p:nvSpPr>
        <p:spPr bwMode="auto">
          <a:xfrm>
            <a:off x="5940425" y="5267597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6300788" y="5196160"/>
            <a:ext cx="287337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" name="Oval 44"/>
          <p:cNvSpPr>
            <a:spLocks noChangeArrowheads="1"/>
          </p:cNvSpPr>
          <p:nvPr/>
        </p:nvSpPr>
        <p:spPr bwMode="auto">
          <a:xfrm>
            <a:off x="4932363" y="2027510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比分</a:t>
            </a:r>
          </a:p>
        </p:txBody>
      </p:sp>
      <p:sp>
        <p:nvSpPr>
          <p:cNvPr id="41" name="Line 45"/>
          <p:cNvSpPr>
            <a:spLocks noChangeShapeType="1"/>
          </p:cNvSpPr>
          <p:nvPr/>
        </p:nvSpPr>
        <p:spPr bwMode="auto">
          <a:xfrm flipH="1">
            <a:off x="5221288" y="2603772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2" name="Oval 46"/>
          <p:cNvSpPr>
            <a:spLocks noChangeArrowheads="1"/>
          </p:cNvSpPr>
          <p:nvPr/>
        </p:nvSpPr>
        <p:spPr bwMode="auto">
          <a:xfrm>
            <a:off x="5724525" y="2459310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组别</a:t>
            </a:r>
          </a:p>
        </p:txBody>
      </p:sp>
      <p:sp>
        <p:nvSpPr>
          <p:cNvPr id="43" name="Oval 47"/>
          <p:cNvSpPr>
            <a:spLocks noChangeArrowheads="1"/>
          </p:cNvSpPr>
          <p:nvPr/>
        </p:nvSpPr>
        <p:spPr bwMode="auto">
          <a:xfrm>
            <a:off x="5797550" y="3107010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比赛时间</a:t>
            </a:r>
          </a:p>
        </p:txBody>
      </p:sp>
      <p:sp>
        <p:nvSpPr>
          <p:cNvPr id="44" name="Line 48"/>
          <p:cNvSpPr>
            <a:spLocks noChangeShapeType="1"/>
          </p:cNvSpPr>
          <p:nvPr/>
        </p:nvSpPr>
        <p:spPr bwMode="auto">
          <a:xfrm flipH="1">
            <a:off x="5292725" y="2819672"/>
            <a:ext cx="43180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5" name="Line 49"/>
          <p:cNvSpPr>
            <a:spLocks noChangeShapeType="1"/>
          </p:cNvSpPr>
          <p:nvPr/>
        </p:nvSpPr>
        <p:spPr bwMode="auto">
          <a:xfrm flipH="1">
            <a:off x="5508625" y="3395935"/>
            <a:ext cx="288925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" name="Oval 50"/>
          <p:cNvSpPr>
            <a:spLocks noChangeArrowheads="1"/>
          </p:cNvSpPr>
          <p:nvPr/>
        </p:nvSpPr>
        <p:spPr bwMode="auto">
          <a:xfrm>
            <a:off x="1692275" y="5229497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场地名称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ER</a:t>
            </a:r>
            <a:r>
              <a:rPr lang="zh-CN" altLang="en-US" dirty="0" smtClean="0"/>
              <a:t>模型练习</a:t>
            </a:r>
            <a:endParaRPr lang="zh-CN" alt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017588" y="2243981"/>
            <a:ext cx="1287462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教练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800600" y="2277318"/>
            <a:ext cx="1285875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球队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2928938" y="2243981"/>
            <a:ext cx="1214437" cy="60960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担任</a:t>
            </a: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flipH="1">
            <a:off x="2286000" y="2548781"/>
            <a:ext cx="642938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4140200" y="2531318"/>
            <a:ext cx="679450" cy="19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auto">
          <a:xfrm>
            <a:off x="103188" y="1451818"/>
            <a:ext cx="1012825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教练编号</a:t>
            </a:r>
          </a:p>
        </p:txBody>
      </p:sp>
      <p:sp>
        <p:nvSpPr>
          <p:cNvPr id="10" name="Oval 10"/>
          <p:cNvSpPr>
            <a:spLocks noChangeArrowheads="1"/>
          </p:cNvSpPr>
          <p:nvPr/>
        </p:nvSpPr>
        <p:spPr bwMode="auto">
          <a:xfrm>
            <a:off x="1042988" y="1200993"/>
            <a:ext cx="1014412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姓名</a:t>
            </a:r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auto">
          <a:xfrm>
            <a:off x="1979613" y="1451818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年龄</a:t>
            </a:r>
          </a:p>
        </p:txBody>
      </p:sp>
      <p:sp>
        <p:nvSpPr>
          <p:cNvPr id="12" name="Oval 12"/>
          <p:cNvSpPr>
            <a:spLocks noChangeArrowheads="1"/>
          </p:cNvSpPr>
          <p:nvPr/>
        </p:nvSpPr>
        <p:spPr bwMode="auto">
          <a:xfrm>
            <a:off x="5286375" y="1200993"/>
            <a:ext cx="1014413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代表地区</a:t>
            </a:r>
          </a:p>
        </p:txBody>
      </p:sp>
      <p:sp>
        <p:nvSpPr>
          <p:cNvPr id="13" name="Oval 13"/>
          <p:cNvSpPr>
            <a:spLocks noChangeArrowheads="1"/>
          </p:cNvSpPr>
          <p:nvPr/>
        </p:nvSpPr>
        <p:spPr bwMode="auto">
          <a:xfrm>
            <a:off x="2987675" y="4691906"/>
            <a:ext cx="10922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入队时间</a:t>
            </a:r>
          </a:p>
        </p:txBody>
      </p:sp>
      <p:sp>
        <p:nvSpPr>
          <p:cNvPr id="14" name="Oval 14"/>
          <p:cNvSpPr>
            <a:spLocks noChangeArrowheads="1"/>
          </p:cNvSpPr>
          <p:nvPr/>
        </p:nvSpPr>
        <p:spPr bwMode="auto">
          <a:xfrm>
            <a:off x="4211638" y="1307356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球队名称</a:t>
            </a:r>
          </a:p>
        </p:txBody>
      </p:sp>
      <p:sp>
        <p:nvSpPr>
          <p:cNvPr id="15" name="Oval 15"/>
          <p:cNvSpPr>
            <a:spLocks noChangeArrowheads="1"/>
          </p:cNvSpPr>
          <p:nvPr/>
        </p:nvSpPr>
        <p:spPr bwMode="auto">
          <a:xfrm>
            <a:off x="6516688" y="1378793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成立时间</a:t>
            </a:r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 flipH="1" flipV="1">
            <a:off x="755650" y="2097931"/>
            <a:ext cx="360363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 flipH="1">
            <a:off x="1476375" y="1810593"/>
            <a:ext cx="71438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 flipH="1">
            <a:off x="1835150" y="2060847"/>
            <a:ext cx="432594" cy="1831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>
            <a:off x="4962525" y="1883618"/>
            <a:ext cx="1143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 flipH="1">
            <a:off x="5580063" y="1810593"/>
            <a:ext cx="215900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1" name="Line 21"/>
          <p:cNvSpPr>
            <a:spLocks noChangeShapeType="1"/>
          </p:cNvSpPr>
          <p:nvPr/>
        </p:nvSpPr>
        <p:spPr bwMode="auto">
          <a:xfrm flipV="1">
            <a:off x="2268538" y="3683843"/>
            <a:ext cx="574675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2" name="Line 22"/>
          <p:cNvSpPr>
            <a:spLocks noChangeShapeType="1"/>
          </p:cNvSpPr>
          <p:nvPr/>
        </p:nvSpPr>
        <p:spPr bwMode="auto">
          <a:xfrm flipV="1">
            <a:off x="5867400" y="1883618"/>
            <a:ext cx="828675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3" name="Rectangle 42"/>
          <p:cNvSpPr>
            <a:spLocks noChangeArrowheads="1"/>
          </p:cNvSpPr>
          <p:nvPr/>
        </p:nvSpPr>
        <p:spPr bwMode="auto">
          <a:xfrm>
            <a:off x="971550" y="3971181"/>
            <a:ext cx="1287463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队员</a:t>
            </a:r>
          </a:p>
        </p:txBody>
      </p:sp>
      <p:sp>
        <p:nvSpPr>
          <p:cNvPr id="24" name="AutoShape 43"/>
          <p:cNvSpPr>
            <a:spLocks noChangeArrowheads="1"/>
          </p:cNvSpPr>
          <p:nvPr/>
        </p:nvSpPr>
        <p:spPr bwMode="auto">
          <a:xfrm>
            <a:off x="2843213" y="3394918"/>
            <a:ext cx="1214437" cy="60960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属于</a:t>
            </a:r>
          </a:p>
        </p:txBody>
      </p:sp>
      <p:sp>
        <p:nvSpPr>
          <p:cNvPr id="25" name="Line 44"/>
          <p:cNvSpPr>
            <a:spLocks noChangeShapeType="1"/>
          </p:cNvSpPr>
          <p:nvPr/>
        </p:nvSpPr>
        <p:spPr bwMode="auto">
          <a:xfrm flipV="1">
            <a:off x="4067175" y="2891681"/>
            <a:ext cx="936625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6" name="AutoShape 45"/>
          <p:cNvSpPr>
            <a:spLocks noChangeArrowheads="1"/>
          </p:cNvSpPr>
          <p:nvPr/>
        </p:nvSpPr>
        <p:spPr bwMode="auto">
          <a:xfrm>
            <a:off x="4787900" y="3323481"/>
            <a:ext cx="1214438" cy="60960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训练</a:t>
            </a:r>
          </a:p>
        </p:txBody>
      </p:sp>
      <p:sp>
        <p:nvSpPr>
          <p:cNvPr id="27" name="AutoShape 46"/>
          <p:cNvSpPr>
            <a:spLocks noChangeArrowheads="1"/>
          </p:cNvSpPr>
          <p:nvPr/>
        </p:nvSpPr>
        <p:spPr bwMode="auto">
          <a:xfrm>
            <a:off x="6372225" y="3323481"/>
            <a:ext cx="1214438" cy="60960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比赛</a:t>
            </a:r>
          </a:p>
        </p:txBody>
      </p:sp>
      <p:sp>
        <p:nvSpPr>
          <p:cNvPr id="28" name="Rectangle 47"/>
          <p:cNvSpPr>
            <a:spLocks noChangeArrowheads="1"/>
          </p:cNvSpPr>
          <p:nvPr/>
        </p:nvSpPr>
        <p:spPr bwMode="auto">
          <a:xfrm>
            <a:off x="4716463" y="4547443"/>
            <a:ext cx="1287462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场地</a:t>
            </a:r>
          </a:p>
        </p:txBody>
      </p:sp>
      <p:sp>
        <p:nvSpPr>
          <p:cNvPr id="29" name="Rectangle 48"/>
          <p:cNvSpPr>
            <a:spLocks noChangeArrowheads="1"/>
          </p:cNvSpPr>
          <p:nvPr/>
        </p:nvSpPr>
        <p:spPr bwMode="auto">
          <a:xfrm>
            <a:off x="7451725" y="4691906"/>
            <a:ext cx="1287463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200" b="1">
                <a:latin typeface="楷体_GB2312" pitchFamily="49" charset="-122"/>
                <a:ea typeface="楷体_GB2312" pitchFamily="49" charset="-122"/>
              </a:rPr>
              <a:t>裁判</a:t>
            </a:r>
          </a:p>
        </p:txBody>
      </p:sp>
      <p:sp>
        <p:nvSpPr>
          <p:cNvPr id="30" name="Line 49"/>
          <p:cNvSpPr>
            <a:spLocks noChangeShapeType="1"/>
          </p:cNvSpPr>
          <p:nvPr/>
        </p:nvSpPr>
        <p:spPr bwMode="auto">
          <a:xfrm>
            <a:off x="5435600" y="2891681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1" name="Line 51"/>
          <p:cNvSpPr>
            <a:spLocks noChangeShapeType="1"/>
          </p:cNvSpPr>
          <p:nvPr/>
        </p:nvSpPr>
        <p:spPr bwMode="auto">
          <a:xfrm>
            <a:off x="5364163" y="3899743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2" name="Line 52"/>
          <p:cNvSpPr>
            <a:spLocks noChangeShapeType="1"/>
          </p:cNvSpPr>
          <p:nvPr/>
        </p:nvSpPr>
        <p:spPr bwMode="auto">
          <a:xfrm>
            <a:off x="6084888" y="2459881"/>
            <a:ext cx="86360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3" name="Line 53"/>
          <p:cNvSpPr>
            <a:spLocks noChangeShapeType="1"/>
          </p:cNvSpPr>
          <p:nvPr/>
        </p:nvSpPr>
        <p:spPr bwMode="auto">
          <a:xfrm flipH="1">
            <a:off x="6011863" y="3610818"/>
            <a:ext cx="360362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4" name="Line 54"/>
          <p:cNvSpPr>
            <a:spLocks noChangeShapeType="1"/>
          </p:cNvSpPr>
          <p:nvPr/>
        </p:nvSpPr>
        <p:spPr bwMode="auto">
          <a:xfrm>
            <a:off x="7596188" y="3610818"/>
            <a:ext cx="360362" cy="1081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5" name="Oval 56"/>
          <p:cNvSpPr>
            <a:spLocks noChangeArrowheads="1"/>
          </p:cNvSpPr>
          <p:nvPr/>
        </p:nvSpPr>
        <p:spPr bwMode="auto">
          <a:xfrm>
            <a:off x="179388" y="3179018"/>
            <a:ext cx="1012825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球员编号</a:t>
            </a:r>
          </a:p>
        </p:txBody>
      </p:sp>
      <p:sp>
        <p:nvSpPr>
          <p:cNvPr id="36" name="Oval 57"/>
          <p:cNvSpPr>
            <a:spLocks noChangeArrowheads="1"/>
          </p:cNvSpPr>
          <p:nvPr/>
        </p:nvSpPr>
        <p:spPr bwMode="auto">
          <a:xfrm>
            <a:off x="179388" y="4547443"/>
            <a:ext cx="1014412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姓名</a:t>
            </a:r>
          </a:p>
        </p:txBody>
      </p:sp>
      <p:sp>
        <p:nvSpPr>
          <p:cNvPr id="37" name="Oval 58"/>
          <p:cNvSpPr>
            <a:spLocks noChangeArrowheads="1"/>
          </p:cNvSpPr>
          <p:nvPr/>
        </p:nvSpPr>
        <p:spPr bwMode="auto">
          <a:xfrm>
            <a:off x="900113" y="5123706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身高</a:t>
            </a:r>
          </a:p>
        </p:txBody>
      </p:sp>
      <p:sp>
        <p:nvSpPr>
          <p:cNvPr id="38" name="Line 59"/>
          <p:cNvSpPr>
            <a:spLocks noChangeShapeType="1"/>
          </p:cNvSpPr>
          <p:nvPr/>
        </p:nvSpPr>
        <p:spPr bwMode="auto">
          <a:xfrm flipH="1" flipV="1">
            <a:off x="755650" y="3755281"/>
            <a:ext cx="576263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9" name="Line 60"/>
          <p:cNvSpPr>
            <a:spLocks noChangeShapeType="1"/>
          </p:cNvSpPr>
          <p:nvPr/>
        </p:nvSpPr>
        <p:spPr bwMode="auto">
          <a:xfrm flipH="1">
            <a:off x="539750" y="4331543"/>
            <a:ext cx="4318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" name="Line 61"/>
          <p:cNvSpPr>
            <a:spLocks noChangeShapeType="1"/>
          </p:cNvSpPr>
          <p:nvPr/>
        </p:nvSpPr>
        <p:spPr bwMode="auto">
          <a:xfrm flipH="1">
            <a:off x="1403350" y="4581128"/>
            <a:ext cx="72306" cy="5425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1" name="Oval 62"/>
          <p:cNvSpPr>
            <a:spLocks noChangeArrowheads="1"/>
          </p:cNvSpPr>
          <p:nvPr/>
        </p:nvSpPr>
        <p:spPr bwMode="auto">
          <a:xfrm>
            <a:off x="1835150" y="4763343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体重</a:t>
            </a:r>
          </a:p>
        </p:txBody>
      </p:sp>
      <p:sp>
        <p:nvSpPr>
          <p:cNvPr id="42" name="Line 63"/>
          <p:cNvSpPr>
            <a:spLocks noChangeShapeType="1"/>
          </p:cNvSpPr>
          <p:nvPr/>
        </p:nvSpPr>
        <p:spPr bwMode="auto">
          <a:xfrm>
            <a:off x="1979711" y="4581127"/>
            <a:ext cx="431701" cy="1822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3" name="Line 64"/>
          <p:cNvSpPr>
            <a:spLocks noChangeShapeType="1"/>
          </p:cNvSpPr>
          <p:nvPr/>
        </p:nvSpPr>
        <p:spPr bwMode="auto">
          <a:xfrm>
            <a:off x="3419475" y="3971181"/>
            <a:ext cx="144463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4" name="Oval 65"/>
          <p:cNvSpPr>
            <a:spLocks noChangeArrowheads="1"/>
          </p:cNvSpPr>
          <p:nvPr/>
        </p:nvSpPr>
        <p:spPr bwMode="auto">
          <a:xfrm>
            <a:off x="3851275" y="5268168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场地名称</a:t>
            </a:r>
          </a:p>
        </p:txBody>
      </p:sp>
      <p:sp>
        <p:nvSpPr>
          <p:cNvPr id="45" name="Oval 66"/>
          <p:cNvSpPr>
            <a:spLocks noChangeArrowheads="1"/>
          </p:cNvSpPr>
          <p:nvPr/>
        </p:nvSpPr>
        <p:spPr bwMode="auto">
          <a:xfrm>
            <a:off x="4859338" y="5484068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场地规模</a:t>
            </a:r>
          </a:p>
        </p:txBody>
      </p:sp>
      <p:sp>
        <p:nvSpPr>
          <p:cNvPr id="46" name="Oval 67"/>
          <p:cNvSpPr>
            <a:spLocks noChangeArrowheads="1"/>
          </p:cNvSpPr>
          <p:nvPr/>
        </p:nvSpPr>
        <p:spPr bwMode="auto">
          <a:xfrm>
            <a:off x="5940425" y="5195143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位置</a:t>
            </a:r>
          </a:p>
        </p:txBody>
      </p:sp>
      <p:sp>
        <p:nvSpPr>
          <p:cNvPr id="47" name="Oval 68"/>
          <p:cNvSpPr>
            <a:spLocks noChangeArrowheads="1"/>
          </p:cNvSpPr>
          <p:nvPr/>
        </p:nvSpPr>
        <p:spPr bwMode="auto">
          <a:xfrm>
            <a:off x="8027988" y="3899743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级别</a:t>
            </a:r>
          </a:p>
        </p:txBody>
      </p:sp>
      <p:sp>
        <p:nvSpPr>
          <p:cNvPr id="48" name="Oval 71"/>
          <p:cNvSpPr>
            <a:spLocks noChangeArrowheads="1"/>
          </p:cNvSpPr>
          <p:nvPr/>
        </p:nvSpPr>
        <p:spPr bwMode="auto">
          <a:xfrm>
            <a:off x="4140200" y="3755281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训练时间</a:t>
            </a:r>
          </a:p>
        </p:txBody>
      </p:sp>
      <p:sp>
        <p:nvSpPr>
          <p:cNvPr id="49" name="Line 72"/>
          <p:cNvSpPr>
            <a:spLocks noChangeShapeType="1"/>
          </p:cNvSpPr>
          <p:nvPr/>
        </p:nvSpPr>
        <p:spPr bwMode="auto">
          <a:xfrm flipH="1">
            <a:off x="4572000" y="3610818"/>
            <a:ext cx="21590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Box 73"/>
          <p:cNvSpPr txBox="1">
            <a:spLocks noChangeArrowheads="1"/>
          </p:cNvSpPr>
          <p:nvPr/>
        </p:nvSpPr>
        <p:spPr bwMode="auto">
          <a:xfrm>
            <a:off x="5435600" y="2963118"/>
            <a:ext cx="360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m</a:t>
            </a:r>
          </a:p>
        </p:txBody>
      </p:sp>
      <p:sp>
        <p:nvSpPr>
          <p:cNvPr id="51" name="Text Box 74"/>
          <p:cNvSpPr txBox="1">
            <a:spLocks noChangeArrowheads="1"/>
          </p:cNvSpPr>
          <p:nvPr/>
        </p:nvSpPr>
        <p:spPr bwMode="auto">
          <a:xfrm>
            <a:off x="5364163" y="4115643"/>
            <a:ext cx="3603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n</a:t>
            </a:r>
          </a:p>
        </p:txBody>
      </p:sp>
      <p:sp>
        <p:nvSpPr>
          <p:cNvPr id="52" name="Text Box 75"/>
          <p:cNvSpPr txBox="1">
            <a:spLocks noChangeArrowheads="1"/>
          </p:cNvSpPr>
          <p:nvPr/>
        </p:nvSpPr>
        <p:spPr bwMode="auto">
          <a:xfrm>
            <a:off x="6156325" y="2170956"/>
            <a:ext cx="360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m</a:t>
            </a:r>
          </a:p>
        </p:txBody>
      </p:sp>
      <p:sp>
        <p:nvSpPr>
          <p:cNvPr id="53" name="Text Box 76"/>
          <p:cNvSpPr txBox="1">
            <a:spLocks noChangeArrowheads="1"/>
          </p:cNvSpPr>
          <p:nvPr/>
        </p:nvSpPr>
        <p:spPr bwMode="auto">
          <a:xfrm>
            <a:off x="6300788" y="3899743"/>
            <a:ext cx="3603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n</a:t>
            </a:r>
          </a:p>
        </p:txBody>
      </p:sp>
      <p:sp>
        <p:nvSpPr>
          <p:cNvPr id="54" name="Text Box 77"/>
          <p:cNvSpPr txBox="1">
            <a:spLocks noChangeArrowheads="1"/>
          </p:cNvSpPr>
          <p:nvPr/>
        </p:nvSpPr>
        <p:spPr bwMode="auto">
          <a:xfrm>
            <a:off x="7524750" y="4260106"/>
            <a:ext cx="360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k</a:t>
            </a:r>
          </a:p>
        </p:txBody>
      </p:sp>
      <p:sp>
        <p:nvSpPr>
          <p:cNvPr id="55" name="Text Box 78"/>
          <p:cNvSpPr txBox="1">
            <a:spLocks noChangeArrowheads="1"/>
          </p:cNvSpPr>
          <p:nvPr/>
        </p:nvSpPr>
        <p:spPr bwMode="auto">
          <a:xfrm>
            <a:off x="4284663" y="2026493"/>
            <a:ext cx="3603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1</a:t>
            </a:r>
          </a:p>
        </p:txBody>
      </p:sp>
      <p:sp>
        <p:nvSpPr>
          <p:cNvPr id="56" name="Text Box 79"/>
          <p:cNvSpPr txBox="1">
            <a:spLocks noChangeArrowheads="1"/>
          </p:cNvSpPr>
          <p:nvPr/>
        </p:nvSpPr>
        <p:spPr bwMode="auto">
          <a:xfrm>
            <a:off x="2627313" y="2026493"/>
            <a:ext cx="3603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1</a:t>
            </a:r>
          </a:p>
        </p:txBody>
      </p:sp>
      <p:sp>
        <p:nvSpPr>
          <p:cNvPr id="57" name="Text Box 80"/>
          <p:cNvSpPr txBox="1">
            <a:spLocks noChangeArrowheads="1"/>
          </p:cNvSpPr>
          <p:nvPr/>
        </p:nvSpPr>
        <p:spPr bwMode="auto">
          <a:xfrm>
            <a:off x="2268538" y="3610818"/>
            <a:ext cx="3603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n</a:t>
            </a:r>
          </a:p>
        </p:txBody>
      </p:sp>
      <p:sp>
        <p:nvSpPr>
          <p:cNvPr id="58" name="Text Box 81"/>
          <p:cNvSpPr txBox="1">
            <a:spLocks noChangeArrowheads="1"/>
          </p:cNvSpPr>
          <p:nvPr/>
        </p:nvSpPr>
        <p:spPr bwMode="auto">
          <a:xfrm>
            <a:off x="3995738" y="3107581"/>
            <a:ext cx="4333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1</a:t>
            </a:r>
          </a:p>
        </p:txBody>
      </p:sp>
      <p:sp>
        <p:nvSpPr>
          <p:cNvPr id="59" name="Oval 82"/>
          <p:cNvSpPr>
            <a:spLocks noChangeArrowheads="1"/>
          </p:cNvSpPr>
          <p:nvPr/>
        </p:nvSpPr>
        <p:spPr bwMode="auto">
          <a:xfrm>
            <a:off x="7524750" y="6131768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姓名</a:t>
            </a:r>
          </a:p>
        </p:txBody>
      </p:sp>
      <p:sp>
        <p:nvSpPr>
          <p:cNvPr id="60" name="Oval 83"/>
          <p:cNvSpPr>
            <a:spLocks noChangeArrowheads="1"/>
          </p:cNvSpPr>
          <p:nvPr/>
        </p:nvSpPr>
        <p:spPr bwMode="auto">
          <a:xfrm>
            <a:off x="6877050" y="5484068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裁判编号</a:t>
            </a:r>
          </a:p>
        </p:txBody>
      </p:sp>
      <p:sp>
        <p:nvSpPr>
          <p:cNvPr id="61" name="Oval 84"/>
          <p:cNvSpPr>
            <a:spLocks noChangeArrowheads="1"/>
          </p:cNvSpPr>
          <p:nvPr/>
        </p:nvSpPr>
        <p:spPr bwMode="auto">
          <a:xfrm>
            <a:off x="8172450" y="5555506"/>
            <a:ext cx="871538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年龄</a:t>
            </a:r>
          </a:p>
        </p:txBody>
      </p:sp>
      <p:sp>
        <p:nvSpPr>
          <p:cNvPr id="62" name="Line 85"/>
          <p:cNvSpPr>
            <a:spLocks noChangeShapeType="1"/>
          </p:cNvSpPr>
          <p:nvPr/>
        </p:nvSpPr>
        <p:spPr bwMode="auto">
          <a:xfrm flipH="1">
            <a:off x="4356100" y="5157192"/>
            <a:ext cx="575940" cy="1109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3" name="Line 86"/>
          <p:cNvSpPr>
            <a:spLocks noChangeShapeType="1"/>
          </p:cNvSpPr>
          <p:nvPr/>
        </p:nvSpPr>
        <p:spPr bwMode="auto">
          <a:xfrm>
            <a:off x="5292080" y="5157192"/>
            <a:ext cx="72083" cy="3268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4" name="Line 87"/>
          <p:cNvSpPr>
            <a:spLocks noChangeShapeType="1"/>
          </p:cNvSpPr>
          <p:nvPr/>
        </p:nvSpPr>
        <p:spPr bwMode="auto">
          <a:xfrm>
            <a:off x="5652119" y="5157192"/>
            <a:ext cx="360041" cy="2160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5" name="Line 88"/>
          <p:cNvSpPr>
            <a:spLocks noChangeShapeType="1"/>
          </p:cNvSpPr>
          <p:nvPr/>
        </p:nvSpPr>
        <p:spPr bwMode="auto">
          <a:xfrm flipH="1">
            <a:off x="8388350" y="4476006"/>
            <a:ext cx="360363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6" name="Line 89"/>
          <p:cNvSpPr>
            <a:spLocks noChangeShapeType="1"/>
          </p:cNvSpPr>
          <p:nvPr/>
        </p:nvSpPr>
        <p:spPr bwMode="auto">
          <a:xfrm flipH="1">
            <a:off x="7524750" y="5268168"/>
            <a:ext cx="2159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7" name="Line 90"/>
          <p:cNvSpPr>
            <a:spLocks noChangeShapeType="1"/>
          </p:cNvSpPr>
          <p:nvPr/>
        </p:nvSpPr>
        <p:spPr bwMode="auto">
          <a:xfrm>
            <a:off x="8027988" y="5339606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8" name="Line 91"/>
          <p:cNvSpPr>
            <a:spLocks noChangeShapeType="1"/>
          </p:cNvSpPr>
          <p:nvPr/>
        </p:nvSpPr>
        <p:spPr bwMode="auto">
          <a:xfrm>
            <a:off x="8388350" y="5268168"/>
            <a:ext cx="287338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9" name="Oval 92"/>
          <p:cNvSpPr>
            <a:spLocks noChangeArrowheads="1"/>
          </p:cNvSpPr>
          <p:nvPr/>
        </p:nvSpPr>
        <p:spPr bwMode="auto">
          <a:xfrm>
            <a:off x="7019925" y="2099518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比分</a:t>
            </a:r>
          </a:p>
        </p:txBody>
      </p:sp>
      <p:sp>
        <p:nvSpPr>
          <p:cNvPr id="70" name="Line 93"/>
          <p:cNvSpPr>
            <a:spLocks noChangeShapeType="1"/>
          </p:cNvSpPr>
          <p:nvPr/>
        </p:nvSpPr>
        <p:spPr bwMode="auto">
          <a:xfrm flipH="1">
            <a:off x="7308850" y="2675781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1" name="Oval 94"/>
          <p:cNvSpPr>
            <a:spLocks noChangeArrowheads="1"/>
          </p:cNvSpPr>
          <p:nvPr/>
        </p:nvSpPr>
        <p:spPr bwMode="auto">
          <a:xfrm>
            <a:off x="7812088" y="2531318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组别</a:t>
            </a:r>
          </a:p>
        </p:txBody>
      </p:sp>
      <p:sp>
        <p:nvSpPr>
          <p:cNvPr id="72" name="Oval 95"/>
          <p:cNvSpPr>
            <a:spLocks noChangeArrowheads="1"/>
          </p:cNvSpPr>
          <p:nvPr/>
        </p:nvSpPr>
        <p:spPr bwMode="auto">
          <a:xfrm>
            <a:off x="7885113" y="3179018"/>
            <a:ext cx="10160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7932" tIns="48966" rIns="97932" bIns="48966" anchor="ctr"/>
          <a:lstStyle/>
          <a:p>
            <a:pPr algn="ctr" defTabSz="979488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1700" b="1">
                <a:latin typeface="楷体_GB2312" pitchFamily="49" charset="-122"/>
                <a:ea typeface="楷体_GB2312" pitchFamily="49" charset="-122"/>
              </a:rPr>
              <a:t>比赛时间</a:t>
            </a:r>
          </a:p>
        </p:txBody>
      </p:sp>
      <p:sp>
        <p:nvSpPr>
          <p:cNvPr id="73" name="Line 96"/>
          <p:cNvSpPr>
            <a:spLocks noChangeShapeType="1"/>
          </p:cNvSpPr>
          <p:nvPr/>
        </p:nvSpPr>
        <p:spPr bwMode="auto">
          <a:xfrm flipH="1">
            <a:off x="7380288" y="2891681"/>
            <a:ext cx="43180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4" name="Line 97"/>
          <p:cNvSpPr>
            <a:spLocks noChangeShapeType="1"/>
          </p:cNvSpPr>
          <p:nvPr/>
        </p:nvSpPr>
        <p:spPr bwMode="auto">
          <a:xfrm flipH="1">
            <a:off x="7596188" y="3467943"/>
            <a:ext cx="288925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83568" y="1412776"/>
            <a:ext cx="8229600" cy="4525963"/>
          </a:xfrm>
        </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题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某医院有多个科室，每个科室有多名医生，每名医生只能在一个科室中工作。每名医生可以参与多个医药科研项目，每个医药科研项目可以由多名医生参加。每名医生参加某医药科研项目，都有参加该项目的时间和项目名称。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其他相关信息包括，关键词带下划线：</a:t>
            </a:r>
          </a:p>
          <a:p>
            <a:pPr lvl="1">
              <a:lnSpc>
                <a:spcPct val="8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科室：</a:t>
            </a:r>
            <a:r>
              <a:rPr lang="zh-CN" altLang="en-US" sz="2000" u="sng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科室编号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，科室名称；</a:t>
            </a:r>
          </a:p>
          <a:p>
            <a:pPr lvl="1">
              <a:lnSpc>
                <a:spcPct val="8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医药科研项目：</a:t>
            </a:r>
            <a:r>
              <a:rPr lang="zh-CN" altLang="en-US" sz="2000" u="sng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项目编号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，项目名称，项目简述</a:t>
            </a:r>
          </a:p>
          <a:p>
            <a:pPr lvl="1">
              <a:lnSpc>
                <a:spcPct val="8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医生：</a:t>
            </a:r>
            <a:r>
              <a:rPr lang="zh-CN" altLang="en-US" sz="2000" u="sng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工号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，姓名，出生日期，民族</a:t>
            </a:r>
          </a:p>
          <a:p>
            <a:pPr>
              <a:lnSpc>
                <a:spcPct val="80000"/>
              </a:lnSpc>
              <a:buNone/>
            </a:pP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根据上述语义设计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E-R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模型，要求标注联系类型</a:t>
            </a:r>
          </a:p>
          <a:p>
            <a:pPr>
              <a:buNone/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232" y="418654"/>
            <a:ext cx="7715200" cy="706090"/>
          </a:xfrm>
        </p:spPr>
        <p:txBody>
          <a:bodyPr/>
          <a:lstStyle/>
          <a:p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ER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模型练习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ER</a:t>
            </a:r>
            <a:r>
              <a:rPr lang="zh-CN" altLang="en-US" dirty="0" smtClean="0"/>
              <a:t>模型练习</a:t>
            </a:r>
            <a:endParaRPr lang="zh-CN" alt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39750" y="3070225"/>
            <a:ext cx="914400" cy="5762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科室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2122488" y="3141663"/>
            <a:ext cx="1296987" cy="503237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组成</a:t>
            </a: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H="1">
            <a:off x="1476375" y="33575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flipH="1">
            <a:off x="3348038" y="33575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924300" y="3068638"/>
            <a:ext cx="914400" cy="576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医生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730375" y="307022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/>
              <a:t>1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492500" y="2998788"/>
            <a:ext cx="349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/>
              <a:t>N</a:t>
            </a:r>
          </a:p>
        </p:txBody>
      </p:sp>
      <p:sp>
        <p:nvSpPr>
          <p:cNvPr id="11" name="AutoShape 11"/>
          <p:cNvSpPr>
            <a:spLocks noChangeArrowheads="1"/>
          </p:cNvSpPr>
          <p:nvPr/>
        </p:nvSpPr>
        <p:spPr bwMode="auto">
          <a:xfrm>
            <a:off x="5435600" y="3070225"/>
            <a:ext cx="1296988" cy="503238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参与</a:t>
            </a:r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 flipH="1">
            <a:off x="4787900" y="33575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7308850" y="3070225"/>
            <a:ext cx="914400" cy="5762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医药科研</a:t>
            </a:r>
          </a:p>
          <a:p>
            <a:pPr algn="ctr"/>
            <a:r>
              <a:rPr lang="zh-CN" altLang="en-US"/>
              <a:t>项目</a:t>
            </a:r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6659563" y="328612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4932363" y="2925763"/>
            <a:ext cx="349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b="1"/>
              <a:t>M</a:t>
            </a:r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6804025" y="2925763"/>
            <a:ext cx="349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b="1"/>
              <a:t>K</a:t>
            </a:r>
          </a:p>
        </p:txBody>
      </p:sp>
      <p:sp>
        <p:nvSpPr>
          <p:cNvPr id="17" name="Oval 17"/>
          <p:cNvSpPr>
            <a:spLocks noChangeArrowheads="1"/>
          </p:cNvSpPr>
          <p:nvPr/>
        </p:nvSpPr>
        <p:spPr bwMode="auto">
          <a:xfrm>
            <a:off x="5508625" y="4510088"/>
            <a:ext cx="1152525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参与时间</a:t>
            </a:r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 flipH="1" flipV="1">
            <a:off x="6011863" y="3573463"/>
            <a:ext cx="7302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 flipV="1">
            <a:off x="1189038" y="2349500"/>
            <a:ext cx="214312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0" name="Oval 20"/>
          <p:cNvSpPr>
            <a:spLocks noChangeArrowheads="1"/>
          </p:cNvSpPr>
          <p:nvPr/>
        </p:nvSpPr>
        <p:spPr bwMode="auto">
          <a:xfrm>
            <a:off x="1187450" y="1989138"/>
            <a:ext cx="1152525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科室编号</a:t>
            </a:r>
          </a:p>
        </p:txBody>
      </p:sp>
      <p:sp>
        <p:nvSpPr>
          <p:cNvPr id="21" name="Oval 21"/>
          <p:cNvSpPr>
            <a:spLocks noChangeArrowheads="1"/>
          </p:cNvSpPr>
          <p:nvPr/>
        </p:nvSpPr>
        <p:spPr bwMode="auto">
          <a:xfrm>
            <a:off x="611188" y="4797425"/>
            <a:ext cx="1152525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科室名称</a:t>
            </a:r>
          </a:p>
        </p:txBody>
      </p:sp>
      <p:sp>
        <p:nvSpPr>
          <p:cNvPr id="22" name="Line 22"/>
          <p:cNvSpPr>
            <a:spLocks noChangeShapeType="1"/>
          </p:cNvSpPr>
          <p:nvPr/>
        </p:nvSpPr>
        <p:spPr bwMode="auto">
          <a:xfrm flipH="1" flipV="1">
            <a:off x="1114425" y="3644900"/>
            <a:ext cx="217488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 flipH="1" flipV="1">
            <a:off x="7380288" y="2133600"/>
            <a:ext cx="7302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 flipV="1">
            <a:off x="7308850" y="3644900"/>
            <a:ext cx="14287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5"/>
          <p:cNvSpPr>
            <a:spLocks noChangeShapeType="1"/>
          </p:cNvSpPr>
          <p:nvPr/>
        </p:nvSpPr>
        <p:spPr bwMode="auto">
          <a:xfrm flipH="1" flipV="1">
            <a:off x="7883525" y="3500438"/>
            <a:ext cx="576263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6"/>
          <p:cNvSpPr>
            <a:spLocks noChangeShapeType="1"/>
          </p:cNvSpPr>
          <p:nvPr/>
        </p:nvSpPr>
        <p:spPr bwMode="auto">
          <a:xfrm flipV="1">
            <a:off x="3276600" y="3644900"/>
            <a:ext cx="79057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7" name="Oval 27"/>
          <p:cNvSpPr>
            <a:spLocks noChangeArrowheads="1"/>
          </p:cNvSpPr>
          <p:nvPr/>
        </p:nvSpPr>
        <p:spPr bwMode="auto">
          <a:xfrm>
            <a:off x="6877050" y="1700213"/>
            <a:ext cx="1152525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项目编号</a:t>
            </a:r>
          </a:p>
        </p:txBody>
      </p:sp>
      <p:sp>
        <p:nvSpPr>
          <p:cNvPr id="28" name="Oval 28"/>
          <p:cNvSpPr>
            <a:spLocks noChangeArrowheads="1"/>
          </p:cNvSpPr>
          <p:nvPr/>
        </p:nvSpPr>
        <p:spPr bwMode="auto">
          <a:xfrm>
            <a:off x="6659563" y="4581525"/>
            <a:ext cx="1152525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项目名称</a:t>
            </a:r>
          </a:p>
        </p:txBody>
      </p:sp>
      <p:sp>
        <p:nvSpPr>
          <p:cNvPr id="29" name="Oval 29"/>
          <p:cNvSpPr>
            <a:spLocks noChangeArrowheads="1"/>
          </p:cNvSpPr>
          <p:nvPr/>
        </p:nvSpPr>
        <p:spPr bwMode="auto">
          <a:xfrm>
            <a:off x="7991475" y="4797425"/>
            <a:ext cx="1152525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项目简述</a:t>
            </a:r>
          </a:p>
        </p:txBody>
      </p:sp>
      <p:sp>
        <p:nvSpPr>
          <p:cNvPr id="30" name="Line 30"/>
          <p:cNvSpPr>
            <a:spLocks noChangeShapeType="1"/>
          </p:cNvSpPr>
          <p:nvPr/>
        </p:nvSpPr>
        <p:spPr bwMode="auto">
          <a:xfrm flipH="1" flipV="1">
            <a:off x="3419475" y="2276475"/>
            <a:ext cx="720725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1" name="Line 31"/>
          <p:cNvSpPr>
            <a:spLocks noChangeShapeType="1"/>
          </p:cNvSpPr>
          <p:nvPr/>
        </p:nvSpPr>
        <p:spPr bwMode="auto">
          <a:xfrm flipV="1">
            <a:off x="4643438" y="2133600"/>
            <a:ext cx="50482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2" name="Line 32"/>
          <p:cNvSpPr>
            <a:spLocks noChangeShapeType="1"/>
          </p:cNvSpPr>
          <p:nvPr/>
        </p:nvSpPr>
        <p:spPr bwMode="auto">
          <a:xfrm flipH="1" flipV="1">
            <a:off x="4643438" y="3644900"/>
            <a:ext cx="144462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3" name="Oval 33"/>
          <p:cNvSpPr>
            <a:spLocks noChangeArrowheads="1"/>
          </p:cNvSpPr>
          <p:nvPr/>
        </p:nvSpPr>
        <p:spPr bwMode="auto">
          <a:xfrm>
            <a:off x="2843213" y="1844675"/>
            <a:ext cx="1152525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工号</a:t>
            </a:r>
          </a:p>
        </p:txBody>
      </p:sp>
      <p:sp>
        <p:nvSpPr>
          <p:cNvPr id="34" name="Oval 34"/>
          <p:cNvSpPr>
            <a:spLocks noChangeArrowheads="1"/>
          </p:cNvSpPr>
          <p:nvPr/>
        </p:nvSpPr>
        <p:spPr bwMode="auto">
          <a:xfrm>
            <a:off x="4643438" y="1700213"/>
            <a:ext cx="1152525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姓名</a:t>
            </a:r>
          </a:p>
        </p:txBody>
      </p:sp>
      <p:sp>
        <p:nvSpPr>
          <p:cNvPr id="35" name="Oval 35"/>
          <p:cNvSpPr>
            <a:spLocks noChangeArrowheads="1"/>
          </p:cNvSpPr>
          <p:nvPr/>
        </p:nvSpPr>
        <p:spPr bwMode="auto">
          <a:xfrm>
            <a:off x="2843213" y="4508500"/>
            <a:ext cx="1152525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出生日期</a:t>
            </a:r>
          </a:p>
        </p:txBody>
      </p:sp>
      <p:sp>
        <p:nvSpPr>
          <p:cNvPr id="36" name="Oval 36"/>
          <p:cNvSpPr>
            <a:spLocks noChangeArrowheads="1"/>
          </p:cNvSpPr>
          <p:nvPr/>
        </p:nvSpPr>
        <p:spPr bwMode="auto">
          <a:xfrm>
            <a:off x="4284663" y="4581525"/>
            <a:ext cx="1152525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民族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58</TotalTime>
  <Words>898</Words>
  <Application>Microsoft Office PowerPoint</Application>
  <PresentationFormat>全屏显示(4:3)</PresentationFormat>
  <Paragraphs>201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Monotype Sorts</vt:lpstr>
      <vt:lpstr>黑体</vt:lpstr>
      <vt:lpstr>楷体</vt:lpstr>
      <vt:lpstr>楷体_GB2312</vt:lpstr>
      <vt:lpstr>宋体</vt:lpstr>
      <vt:lpstr>Arial</vt:lpstr>
      <vt:lpstr>Calibri</vt:lpstr>
      <vt:lpstr>Lucida Sans Unicode</vt:lpstr>
      <vt:lpstr>Times New Roman</vt:lpstr>
      <vt:lpstr>Verdana</vt:lpstr>
      <vt:lpstr>Wingdings 2</vt:lpstr>
      <vt:lpstr>Wingdings 3</vt:lpstr>
      <vt:lpstr>聚合</vt:lpstr>
      <vt:lpstr>数据库练习题集</vt:lpstr>
      <vt:lpstr>范式化</vt:lpstr>
      <vt:lpstr>PowerPoint 演示文稿</vt:lpstr>
      <vt:lpstr>ER模型练习</vt:lpstr>
      <vt:lpstr>ER模型练习</vt:lpstr>
      <vt:lpstr>ER模型练习</vt:lpstr>
      <vt:lpstr>ER模型练习</vt:lpstr>
      <vt:lpstr>ER模型练习</vt:lpstr>
      <vt:lpstr>ER模型练习</vt:lpstr>
      <vt:lpstr>ER模型练习</vt:lpstr>
      <vt:lpstr>ER模型练习</vt:lpstr>
      <vt:lpstr>ER模型练习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数据库练习题集</dc:title>
  <dc:creator>lihui</dc:creator>
  <cp:lastModifiedBy>ZX</cp:lastModifiedBy>
  <cp:revision>9</cp:revision>
  <dcterms:created xsi:type="dcterms:W3CDTF">2015-10-09T01:35:21Z</dcterms:created>
  <dcterms:modified xsi:type="dcterms:W3CDTF">2024-12-06T09:30:00Z</dcterms:modified>
</cp:coreProperties>
</file>